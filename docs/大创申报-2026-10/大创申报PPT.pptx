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tableStyles" Target="tableStyles.xml"/><Relationship Id="rId23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padding: 0, background: '#FFFFFF' }}&gt;&#10;  &lt;Box style={{ height: 150, background: '#0E3F8C', justifyContent: 'center', paddingLeft: 64 }}&gt;&#10;    &lt;Text style={{ fontSize: 28, color: '#FFFFFF', fontWeight: 'bold' }}&gt;韩山师范学院&lt;/Text&gt;&#10;    &lt;Text style={{ fontSize: 17, color: '#C9D8F0', marginTop: 6 }}&gt;2026 年校级大学生创新创业训练项目 · 创新训练类&lt;/Text&gt;&#10;  &lt;/Box&gt;&#10;  &lt;Box style={{ height: 420, justifyContent: 'center', paddingLeft: 64, paddingRight: 64 }}&gt;&#10;    &lt;Text style={{ fontSize: 17, color: '#1E4FA8', fontWeight: 'bold', letterSpacing: 2 }}&gt;LOCAL VOICE PRESERVATION · FEW-SHOT REPRODUCTION QUALITY BOUNDARY&lt;/Text&gt;&#10;    &lt;Text style={{ fontSize: 42, color: '#0E3F8C', fontWeight: 'bold', marginTop: 16, lineHeight: 1.3 }}&gt;面向职业用嗓人群的本地声音保存&lt;br /&gt;与少样本复现质量边界研究&lt;/Text&gt;&#10;    &lt;Box style={{ width: 90, height: 5, background: '#FFC107', marginTop: 22 }} /&gt;&#10;  &lt;/Box&gt;&#10;  &lt;Box style={{ height: 150, paddingLeft: 64, paddingRight: 64, justifyContent: 'center', borderTop: '1px solid #E5E7EB' }}&gt;&#10;    &lt;Box style={{ flexDirection: 'row', gap: 40, marginBottom: 12 }}&gt;&#10;      &lt;Text style={{ fontSize: 16, color: '#1A2230' }}&gt;项目负责人：&lt;Text style={{ fontWeight: 'bold', color: '#0E3F8C' }}&gt;牟旭&lt;/Text&gt;&lt;/Text&gt;&#10;      &lt;Text style={{ fontSize: 16, color: '#1A2230' }}&gt;团队成员：&lt;Text style={{ fontWeight: 'bold', color: '#0E3F8C' }}&gt;李河璋　罗文钎　陈宏杰&lt;/Text&gt;&lt;/Text&gt;&#10;    &lt;/Box&gt;&#10;    &lt;Box style={{ flexDirection: 'row', gap: 40 }}&gt;&#10;      &lt;Text style={{ fontSize: 16, color: '#1A2230' }}&gt;指导教师：&lt;Text style={{ color: '#8B97A8' }}&gt;＿＿＿＿＿＿&lt;/Text&gt;&lt;/Text&gt;&#10;      &lt;Text style={{ fontSize: 16, color: '#1A2230' }}&gt;所在学院：&lt;Text style={{ color: '#8B97A8' }}&gt;＿＿＿＿＿＿&lt;/Text&gt;&lt;/Text&gt;&#10;      &lt;Text style={{ fontSize: 16, color: '#1A2230' }}&gt;申报日期：2026.1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428625"/>
            <a:ext cx="1158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韩山师范学院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809625"/>
            <a:ext cx="1158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年校级大学生创新创业训练项目</a:t>
            </a: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创新训练类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150">
                <a:solidFill>
                  <a:srgbClr val="1E4FA8"/>
                </a:solidFill>
                <a:latin typeface="Microsoft YaHei"/>
                <a:ea typeface="Microsoft YaHei"/>
              </a:rPr>
              <a:t>LOCAL VOICE PRESERVATION · FEW-SHOT REPRODUCTION QUALITY BOUNDARY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847975"/>
            <a:ext cx="10972800" cy="12573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0E3F8C"/>
                </a:solidFill>
                <a:latin typeface="Microsoft YaHei"/>
                <a:ea typeface="Microsoft YaHei"/>
              </a:rPr>
              <a:t>面向职业用嗓人群的本地声音保存</a:t>
            </a:r>
            <a:endParaRPr/>
          </a:p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0E3F8C"/>
                </a:solidFill>
                <a:latin typeface="Microsoft YaHei"/>
                <a:ea typeface="Microsoft YaHei"/>
              </a:rPr>
              <a:t>与少样本复现质量边界研究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314825"/>
            <a:ext cx="85725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0" y="5429250"/>
            <a:ext cx="12192000" cy="1428750"/>
          </a:xfrm>
          <a:custGeom>
            <a:pathLst>
              <a:path w="1280" h="1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59055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项目负责人：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牟旭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09800" y="59055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团队成员：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李河璋　罗文钎　陈宏杰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62103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指导教师：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＿＿＿＿＿＿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667000" y="62103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所在学院：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＿＿＿＿＿＿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724400" y="6210300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申报日期：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2026.10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63" name="" descr="&lt;Slide style={{ padding: 0, background: '#FFFFFF' }}&gt;&#10;  &lt;Box style={{ height: 90, justifyContent: 'center', paddingLeft: 48, borderBottom: '3px solid #0E3F8C' }}&gt;&#10;    &lt;Text style={{ fontSize: 32, color: '#0E3F8C', fontWeight: 'bold' }}&gt;目　录&lt;/Text&gt;&#10;    &lt;Text style={{ fontSize: 15, color: '#8B97A8', marginTop: 4 }}&gt;严格对照官方&quot;创新类项目进展 PPT&quot;5 项要求逐条组织&lt;/Text&gt;&#10;  &lt;/Box&gt;&#10;  &lt;Box style={{ height: 540, padding: 32, gap: 14 }}&gt;&#10;    &lt;Box style={{ flexDirection: 'row', gap: 16, flex: 1 }}&gt;&#10;      &lt;Box style={{ flex: 1, background: '#F0F5FC', borderRadius: 10, padding: 18, borderLeft: '5px solid #1E4FA8' }}&gt;&#10;        &lt;Text style={{ fontSize: 26, color: '#3D7BD9', fontWeight: 'bold' }}&gt;01&lt;/Text&gt;&#10;        &lt;Text style={{ fontSize: 18, color: '#0E3F8C', fontWeight: 'bold', marginTop: 4 }}&gt;项目概述 · 背景 · 现状&lt;/Text&gt;&#10;        &lt;Text style={{ fontSize: 14, color: '#4A5568', marginTop: 6, lineHeight: 1.65 }}&gt;项目概述 / 研究背景 / 国内外现状{&quot;\n&quot;}&lt;Text style={{ color: '#D9534F', fontWeight: 'bold' }}&gt;自我评述（优势·不足·应对）&lt;/Text&gt;&lt;/Text&gt;&#10;      &lt;/Box&gt;&#10;      &lt;Box style={{ flex: 1, background: '#F0F5FC', borderRadius: 10, padding: 18, borderLeft: '5px solid #1E4FA8' }}&gt;&#10;        &lt;Text style={{ fontSize: 26, color: '#3D7BD9', fontWeight: 'bold' }}&gt;02&lt;/Text&gt;&#10;        &lt;Text style={{ fontSize: 18, color: '#0E3F8C', fontWeight: 'bold', marginTop: 4 }}&gt;目的意义 · 技术水平&lt;/Text&gt;&#10;        &lt;Text style={{ fontSize: 14, color: '#4A5568', marginTop: 6, lineHeight: 1.65 }}&gt;目的与意义 / 技术水平（硬指标）{&quot;\n&quot;}&lt;Text style={{ color: '#D9534F', fontWeight: 'bold' }}&gt;基本思路 / 适用范围与推广前景&lt;/Text&gt;&lt;/Text&gt;&#10;      &lt;/Box&gt;&#10;      &lt;Box style={{ flex: 1, background: '#F0F5FC', borderRadius: 10, padding: 18, borderLeft: '5px solid #1E4FA8' }}&gt;&#10;        &lt;Text style={{ fontSize: 26, color: '#3D7BD9', fontWeight: 'bold' }}&gt;03&lt;/Text&gt;&#10;        &lt;Text style={{ fontSize: 18, color: '#0E3F8C', fontWeight: 'bold', marginTop: 4 }}&gt;研究方案与技术路线&lt;/Text&gt;&#10;        &lt;Text style={{ fontSize: 14, color: '#4A5568', marginTop: 6, lineHeight: 1.65 }}&gt;RQ1–RQ3 / 实验矩阵{&quot;\n&quot;}五阶段技术路线&lt;/Text&gt;&#10;      &lt;/Box&gt;&#10;    &lt;/Box&gt;&#10;    &lt;Box style={{ flexDirection: 'row', gap: 16, flex: 1 }}&gt;&#10;      &lt;Box style={{ flex: 1, background: '#F0F5FC', borderRadius: 10, padding: 18, borderLeft: '5px solid #1E4FA8' }}&gt;&#10;        &lt;Text style={{ fontSize: 26, color: '#3D7BD9', fontWeight: 'bold' }}&gt;04&lt;/Text&gt;&#10;        &lt;Text style={{ fontSize: 18, color: '#0E3F8C', fontWeight: 'bold', marginTop: 4 }}&gt;整体时间安排&lt;/Text&gt;&#10;        &lt;Text style={{ fontSize: 14, color: '#4A5568', marginTop: 6, lineHeight: 1.65 }}&gt;自立项到结项 11 个月{&quot;\n&quot;}六阶段甘特与里程碑&lt;/Text&gt;&#10;      &lt;/Box&gt;&#10;      &lt;Box style={{ flex: 1, background: '#F0F5FC', borderRadius: 10, padding: 18, borderLeft: '5px solid #1E4FA8' }}&gt;&#10;        &lt;Text style={{ fontSize: 26, color: '#3D7BD9', fontWeight: 'bold' }}&gt;05&lt;/Text&gt;&#10;        &lt;Text style={{ fontSize: 18, color: '#0E3F8C', fontWeight: 'bold', marginTop: 4 }}&gt;项目开展情况&lt;/Text&gt;&#10;        &lt;Text style={{ fontSize: 14, color: '#4A5568', marginTop: 6, lineHeight: 1.65 }}&gt;已有成果 / &lt;Text style={{ color: '#D9534F', fontWeight: 'bold' }}&gt;现有结论&lt;/Text&gt; / 预期成果{&quot;\n&quot;}前期基础（可登记·可验证）&lt;/Text&gt;&#10;      &lt;/Box&gt;&#10;      &lt;Box style={{ flex: 1, background: '#F0F5FC', borderRadius: 10, padding: 18, borderLeft: '5px solid #1E4FA8' }}&gt;&#10;        &lt;Text style={{ fontSize: 26, color: '#3D7BD9', fontWeight: 'bold' }}&gt;06&lt;/Text&gt;&#10;        &lt;Text style={{ fontSize: 18, color: '#0E3F8C', fontWeight: 'bold', marginTop: 4 }}&gt;预算 · 团队 · 致谢&lt;/Text&gt;&#10;        &lt;Text style={{ fontSize: 14, color: '#4A5568', marginTop: 6, lineHeight: 1.65 }}&gt;项目预算（官方第 5 项）{&quot;\n&quot;}团队 4 人分工 / 指导教师&lt;/Text&gt;&#10;      &lt;/Box&gt;&#10;    &lt;/Box&gt;&#10;  &lt;/Box&gt;&#10;  &lt;Box style={{ height: 40, justifyContent: 'center', paddingLeft: 48 }}&gt;&#10;    &lt;Text style={{ fontSize: 14, color: '#8B97A8' }}&gt;韩山师范学院 · 大学生创新创业训练项目　　02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7"/>
                </a:moveTo>
                <a:lnTo>
                  <a:pt x="1280" y="87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57200" y="123825"/>
            <a:ext cx="11734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目　录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57200" y="533400"/>
            <a:ext cx="1173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严格对照官方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创新类项目进展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PPT"5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项要求逐条组织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352425" y="1162050"/>
            <a:ext cx="3762375" cy="2200275"/>
          </a:xfrm>
          <a:prstGeom prst="roundRect">
            <a:avLst>
              <a:gd name="adj" fmla="val 432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352425" y="1162050"/>
            <a:ext cx="3762375" cy="2200275"/>
          </a:xfrm>
          <a:custGeom>
            <a:pathLst>
              <a:path w="395" h="23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226"/>
                </a:lnTo>
                <a:cubicBezTo>
                  <a:pt x="5" y="228"/>
                  <a:pt x="7" y="230"/>
                  <a:pt x="9" y="231"/>
                </a:cubicBezTo>
                <a:cubicBezTo>
                  <a:pt x="4" y="230"/>
                  <a:pt x="0" y="226"/>
                  <a:pt x="0" y="22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23875" y="1333500"/>
            <a:ext cx="3371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D7BD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23875" y="1676400"/>
            <a:ext cx="3371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项目概述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背景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现状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23875" y="1943100"/>
            <a:ext cx="3371850" cy="5334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项目概述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研究背景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国内外现状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自我评述（优势·不足·应对）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4267200" y="1162050"/>
            <a:ext cx="3752850" cy="2200275"/>
          </a:xfrm>
          <a:prstGeom prst="roundRect">
            <a:avLst>
              <a:gd name="adj" fmla="val 432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4267200" y="1162050"/>
            <a:ext cx="3752850" cy="2200275"/>
          </a:xfrm>
          <a:custGeom>
            <a:pathLst>
              <a:path w="394" h="23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226"/>
                </a:lnTo>
                <a:cubicBezTo>
                  <a:pt x="5" y="228"/>
                  <a:pt x="7" y="230"/>
                  <a:pt x="9" y="231"/>
                </a:cubicBezTo>
                <a:cubicBezTo>
                  <a:pt x="4" y="230"/>
                  <a:pt x="0" y="226"/>
                  <a:pt x="0" y="22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438650" y="1333500"/>
            <a:ext cx="3362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438650" y="1676400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目的意义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技术水平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438650" y="1943100"/>
            <a:ext cx="3362325" cy="5334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目的与意义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技术水平（硬指标）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基本思路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适用范围与推广前景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8172450" y="1162050"/>
            <a:ext cx="3762375" cy="2200275"/>
          </a:xfrm>
          <a:prstGeom prst="roundRect">
            <a:avLst>
              <a:gd name="adj" fmla="val 432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8172450" y="1162050"/>
            <a:ext cx="3762375" cy="2200275"/>
          </a:xfrm>
          <a:custGeom>
            <a:pathLst>
              <a:path w="395" h="23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226"/>
                </a:lnTo>
                <a:cubicBezTo>
                  <a:pt x="5" y="228"/>
                  <a:pt x="7" y="230"/>
                  <a:pt x="9" y="231"/>
                </a:cubicBezTo>
                <a:cubicBezTo>
                  <a:pt x="4" y="230"/>
                  <a:pt x="0" y="226"/>
                  <a:pt x="0" y="22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343900" y="1333500"/>
            <a:ext cx="3371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D7BD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343900" y="1676400"/>
            <a:ext cx="3371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研究方案与技术路线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343900" y="1943100"/>
            <a:ext cx="3371850" cy="5334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RQ1–RQ3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实验矩阵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五阶段技术路线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352425" y="3495675"/>
            <a:ext cx="3762375" cy="2200275"/>
          </a:xfrm>
          <a:prstGeom prst="roundRect">
            <a:avLst>
              <a:gd name="adj" fmla="val 432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352425" y="3495675"/>
            <a:ext cx="3762375" cy="2200275"/>
          </a:xfrm>
          <a:custGeom>
            <a:pathLst>
              <a:path w="395" h="23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226"/>
                </a:lnTo>
                <a:cubicBezTo>
                  <a:pt x="5" y="228"/>
                  <a:pt x="7" y="230"/>
                  <a:pt x="9" y="231"/>
                </a:cubicBezTo>
                <a:cubicBezTo>
                  <a:pt x="4" y="230"/>
                  <a:pt x="0" y="226"/>
                  <a:pt x="0" y="22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23875" y="3667125"/>
            <a:ext cx="3371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D7BD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23875" y="4010025"/>
            <a:ext cx="3371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整体时间安排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23875" y="4276725"/>
            <a:ext cx="3371850" cy="5334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自立项到结项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个月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六阶段甘特与里程碑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4267200" y="3495675"/>
            <a:ext cx="3752850" cy="2200275"/>
          </a:xfrm>
          <a:prstGeom prst="roundRect">
            <a:avLst>
              <a:gd name="adj" fmla="val 432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4267200" y="3495675"/>
            <a:ext cx="3752850" cy="2200275"/>
          </a:xfrm>
          <a:custGeom>
            <a:pathLst>
              <a:path w="394" h="23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226"/>
                </a:lnTo>
                <a:cubicBezTo>
                  <a:pt x="5" y="228"/>
                  <a:pt x="7" y="230"/>
                  <a:pt x="9" y="231"/>
                </a:cubicBezTo>
                <a:cubicBezTo>
                  <a:pt x="4" y="230"/>
                  <a:pt x="0" y="226"/>
                  <a:pt x="0" y="22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438650" y="3667125"/>
            <a:ext cx="3362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D7BD9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438650" y="4010025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项目开展情况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438650" y="4276725"/>
            <a:ext cx="3362325" cy="5334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已有成果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现有结论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预期成果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前期基础（可登记·可验证）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8172450" y="3495675"/>
            <a:ext cx="3762375" cy="2200275"/>
          </a:xfrm>
          <a:prstGeom prst="roundRect">
            <a:avLst>
              <a:gd name="adj" fmla="val 432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8172450" y="3495675"/>
            <a:ext cx="3762375" cy="2200275"/>
          </a:xfrm>
          <a:custGeom>
            <a:pathLst>
              <a:path w="395" h="23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226"/>
                </a:lnTo>
                <a:cubicBezTo>
                  <a:pt x="5" y="228"/>
                  <a:pt x="7" y="230"/>
                  <a:pt x="9" y="231"/>
                </a:cubicBezTo>
                <a:cubicBezTo>
                  <a:pt x="4" y="230"/>
                  <a:pt x="0" y="226"/>
                  <a:pt x="0" y="22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343900" y="3667125"/>
            <a:ext cx="3371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D7BD9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343900" y="4010025"/>
            <a:ext cx="3371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预算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团队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致谢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43900" y="4276725"/>
            <a:ext cx="3371850" cy="5334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项目预算（官方第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项）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团队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人分工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指导教师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57200" y="6115050"/>
            <a:ext cx="1173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99" name="" descr="&lt;Slide style={{ padding: 0, background: '#0E3F8C' }}&gt;&#10;  &lt;Box style={{ height: 720, justifyContent: 'center', paddingLeft: 80, paddingRight: 80 }}&gt;&#10;    &lt;Text style={{ fontSize: 120, color: '#3D7BD9', fontWeight: 'bold' }}&gt;01&lt;/Text&gt;&#10;    &lt;Text style={{ fontSize: 46, color: '#FFFFFF', fontWeight: 'bold', marginTop: 4 }}&gt;项目概述 · 背景 · 现状 · 自我评述&lt;/Text&gt;&#10;    &lt;Box style={{ width: 90, height: 5, background: '#FFC107', marginTop: 22 }} /&gt;&#10;    &lt;Text style={{ fontSize: 21, color: '#C9D8F0', marginTop: 24, lineHeight: 1.75 }}&gt;&#10;      对应官方要求第 1 项：项目概述、背景、现状、&lt;Text style={{ color: '#FFC107', fontWeight: 'bold' }}&gt;自我评述&lt;/Text&gt;。&#10;      本部分回答&quot;这是一个什么项目、为什么要做、别人做到哪了、我们自己怎么看自己&quot;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62000" y="1790700"/>
            <a:ext cx="1066800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3D7BD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62000" y="3200400"/>
            <a:ext cx="10668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项目概述</a:t>
            </a: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背景</a:t>
            </a: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现状</a:t>
            </a: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自我评述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762000" y="3943350"/>
            <a:ext cx="85725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62000" y="4219575"/>
            <a:ext cx="1066800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对应官方要求第</a:t>
            </a:r>
            <a:r>
              <a:rPr lang="en-US" sz="1575">
                <a:solidFill>
                  <a:srgbClr val="C9D8F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项：项目概述、背景、现状、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自我评述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。</a:t>
            </a:r>
            <a:r>
              <a:rPr lang="en-US" sz="1575">
                <a:solidFill>
                  <a:srgbClr val="C9D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本部分回答</a:t>
            </a:r>
            <a:r>
              <a:rPr lang="en-US" sz="1575">
                <a:solidFill>
                  <a:srgbClr val="C9D8F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这是一个什么项目、为什么要做、别人做到哪了、我们自己怎么看自己</a:t>
            </a:r>
            <a:r>
              <a:rPr lang="en-US" sz="1575">
                <a:solidFill>
                  <a:srgbClr val="C9D8F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05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一、项目概述&lt;/Text&gt;&#10;    &lt;Text style={{ fontSize: 15, color: '#C9D8F0' }}&gt;官方要求第 1 项 · 一段话说清是什么&lt;/Text&gt;&#10;  &lt;/Box&gt;&#10;  &lt;Box style={{ height: 580, padding: 32, gap: 18 }}&gt;&#10;    &lt;Box style={{ background: '#F0F5FC', borderRadius: 12, padding: 24, borderLeft: '6px solid #1E4FA8' }}&gt;&#10;      &lt;Text style={{ fontSize: 19, color: '#0E3F8C', fontWeight: 'bold' }}&gt;本项目做什么&lt;/Text&gt;&#10;      &lt;Text style={{ fontSize: 17, color: '#1A2230', marginTop: 10, lineHeight: 1.85 }}&gt;&#10;        面向&lt;Text style={{ fontWeight: 'bold', color: '#0E3F8C' }}&gt;职业用嗓人群&lt;/Text&gt;（教师、师范生、播音主持、客服等）&#10;        不可逆嗓音损失的风险，研究&lt;Text style={{ fontWeight: 'bold', color: '#0E3F8C' }}&gt;本地离线、秒级参考音&lt;/Text&gt;条件下的&#10;        &lt;Text style={{ fontWeight: 'bold', color: '#0E3F8C' }}&gt;声音保存与复现质量边界&lt;/Text&gt;问题——&#10;        即&quot;&lt;Text style={{ color: '#D9534F', fontWeight: 'bold' }}&gt;给克隆系统多少秒参考音，才能复现出可接受的声音&lt;/Text&gt;&quot;，&#10;        并回答&quot;&lt;Text style={{ color: '#D9534F', fontWeight: 'bold' }}&gt;客观声学指标能否替代人工听测&lt;/Text&gt;&quot;这一方法论问题。&#10;      &lt;/Text&gt;&#10;    &lt;/Box&gt;&#10;    &lt;Box style={{ flexDirection: 'row', gap: 18, flex: 1 }}&gt;&#10;      &lt;Box style={{ flex: 1, background: '#FFFFFF', border: '2px solid #D6DCE5', borderRadius: 12, padding: 20 }}&gt;&#10;        &lt;Text style={{ fontSize: 19, color: '#D9534F', fontWeight: 'bold' }}&gt;✕ 我们不做&lt;/Text&gt;&#10;        &lt;Text style={{ fontSize: 16, color: '#4A5568', marginTop: 10, lineHeight: 1.9 }}&gt;&#10;          · 不发明新的大模型{&quot;\n&quot;}&#10;          · 不追求模型层面的原创{&quot;\n&quot;}&#10;          · 不做&quot;产品 / 商业&quot;叙事{&quot;\n&quot;}&#10;          · 不宣称任何医疗效果&#10;        &lt;/Text&gt;&#10;      &lt;/Box&gt;&#10;      &lt;Box style={{ flex: 1, background: '#E8EFF8', border: '2px solid #1E4FA8', borderRadius: 12, padding: 20 }}&gt;&#10;        &lt;Text style={{ fontSize: 19, color: '#1E4FA8', fontWeight: 'bold' }}&gt;✓ 我们做&lt;/Text&gt;&#10;        &lt;Text style={{ fontSize: 16, color: '#1A2230', marginTop: 10, lineHeight: 1.9 }}&gt;&#10;          · 把已有成熟模型工程化为{&quot;\n&quot;}　&lt;Text style={{ fontWeight: 'bold' }}&gt;可控、可复现的实验平台&lt;/Text&gt;{&quot;\n&quot;}&#10;          · 用严格协议测量「质量—代价」{&quot;\n&quot;}　的真实关系{&quot;\n&quot;}&#10;          · 把测量结果反哺为&lt;Text style={{ fontWeight: 'bold' }}&gt;自动质量门禁&lt;/Text&gt;&#10;        &lt;/Text&gt;&#10;      &lt;/Box&gt;&#10;    &lt;/Box&gt;&#10;    &lt;Box style={{ background: '#0E3F8C', borderRadius: 12, padding: 18 }}&gt;&#10;      &lt;Text style={{ fontSize: 17, color: '#FFFFFF', lineHeight: 1.7 }}&gt;&#10;        核心价值：把&quot;&lt;Text style={{ color: '#FFC107' }}&gt;能不能用&lt;/Text&gt;&quot;（凭感觉）转化为&#10;        &quot;&lt;Text style={{ color: '#FFC107' }}&gt;在什么条件下、以什么代价可用&lt;/Text&gt;&quot;（&lt;Text style={{ fontWeight: 'bold' }}&gt;用数据回答&lt;/Text&gt;）。&#10;      &lt;/Text&gt;&#10;    &lt;/Box&gt;&#10;  &lt;/Box&gt;&#10;  &lt;Box style={{ height: 60, justifyContent: 'center', paddingLeft: 40 }}&gt;&#10;    &lt;Text style={{ fontSize: 15, color: '#8B97A8' }}&gt;韩山师范学院 · 大学生创新创业训练项目　　0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267200" y="219075"/>
            <a:ext cx="1600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一、项目概述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19800" y="295275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官方要求第</a:t>
            </a: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项</a:t>
            </a: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一段话说清是什么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361950" y="877824"/>
            <a:ext cx="11582400" cy="2212848"/>
          </a:xfrm>
          <a:prstGeom prst="roundRect">
            <a:avLst>
              <a:gd name="adj" fmla="val 764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361950" y="877824"/>
            <a:ext cx="11582400" cy="2212848"/>
          </a:xfrm>
          <a:custGeom>
            <a:pathLst>
              <a:path w="1216" h="157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151"/>
                </a:lnTo>
                <a:cubicBezTo>
                  <a:pt x="6" y="154"/>
                  <a:pt x="8" y="156"/>
                  <a:pt x="11" y="157"/>
                </a:cubicBezTo>
                <a:cubicBezTo>
                  <a:pt x="5" y="156"/>
                  <a:pt x="0" y="151"/>
                  <a:pt x="0" y="145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90550" y="1024128"/>
            <a:ext cx="11068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本项目做什么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90550" y="1298448"/>
            <a:ext cx="11068050" cy="1664208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b="1" sz="1600">
                <a:solidFill>
                  <a:srgbClr val="0E3F8C"/>
                </a:solidFill>
              </a:rPr>
              <a:t>看谁的问题：</a:t>
            </a:r>
            <a:r>
              <a:rPr b="0" sz="1600"/>
              <a:t>声音克隆当前多服务于创作与娱乐，而职业用嗓人群面临的是不可逆的嗓音损失风险——他们需要的不是“像不像”，而是</a:t>
            </a:r>
            <a:r>
              <a:rPr b="1" sz="1600">
                <a:solidFill>
                  <a:srgbClr val="D9534F"/>
                </a:solidFill>
              </a:rPr>
              <a:t>在负担得起的前提下把声音保存下来</a:t>
            </a:r>
            <a:r>
              <a:rPr b="0" sz="1600"/>
              <a:t>。</a:t>
            </a:r>
            <a:endParaRPr/>
          </a:p>
          <a:p>
            <a:r>
              <a:rPr b="1" sz="1600">
                <a:solidFill>
                  <a:srgbClr val="0E3F8C"/>
                </a:solidFill>
              </a:rPr>
              <a:t>做什么：</a:t>
            </a:r>
            <a:r>
              <a:rPr b="0" sz="1600"/>
              <a:t>把“声音保存”从玩具重新定位为</a:t>
            </a:r>
            <a:r>
              <a:rPr b="1" sz="1600"/>
              <a:t>面向该人群的实用工具</a:t>
            </a:r>
            <a:r>
              <a:rPr b="0" sz="1600"/>
              <a:t>，研究</a:t>
            </a:r>
            <a:r>
              <a:rPr b="1" sz="1600"/>
              <a:t>本地离线、秒级参考音</a:t>
            </a:r>
            <a:r>
              <a:rPr b="0" sz="1600"/>
              <a:t>下的复现质量边界，并反哺为</a:t>
            </a:r>
            <a:r>
              <a:rPr b="1" sz="1600"/>
              <a:t>自动质量门禁</a:t>
            </a:r>
            <a:r>
              <a:rPr b="0" sz="1600"/>
              <a:t>——让用户知道“录多久就够”。</a:t>
            </a:r>
          </a:p>
        </p:txBody>
      </p:sp>
      <p:sp>
        <p:nvSpPr>
          <p:cNvPr id="214" name=""/>
          <p:cNvSpPr/>
          <p:nvPr/>
        </p:nvSpPr>
        <p:spPr>
          <a:xfrm rot="0" flipH="0" flipV="0">
            <a:off x="304800" y="3218688"/>
            <a:ext cx="5705475" cy="1883664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254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95300" y="3401568"/>
            <a:ext cx="5324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现有方案的盲区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95300" y="3694176"/>
            <a:ext cx="5324475" cy="1371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b="1">
                <a:solidFill>
                  <a:srgbClr val="1A2230"/>
                </a:solidFill>
              </a:rPr>
              <a:t>面向创作/娱乐</a:t>
            </a:r>
            <a:r>
              <a:rPr b="0">
                <a:solidFill>
                  <a:srgbClr val="4A5568"/>
                </a:solidFill>
              </a:rPr>
              <a:t>　追求音色相似度，忽略使用成本</a:t>
            </a:r>
            <a:endParaRPr/>
          </a:p>
          <a:p>
            <a:r>
              <a:rPr b="1">
                <a:solidFill>
                  <a:srgbClr val="1A2230"/>
                </a:solidFill>
              </a:rPr>
              <a:t>传统声音银行</a:t>
            </a:r>
            <a:r>
              <a:rPr b="0">
                <a:solidFill>
                  <a:srgbClr val="4A5568"/>
                </a:solidFill>
              </a:rPr>
              <a:t>　50–200 句录制门槛，负担重</a:t>
            </a:r>
          </a:p>
          <a:p>
            <a:r>
              <a:rPr b="1">
                <a:solidFill>
                  <a:srgbClr val="1A2230"/>
                </a:solidFill>
              </a:rPr>
              <a:t>Apple 等厂商功能</a:t>
            </a:r>
            <a:r>
              <a:rPr b="0">
                <a:solidFill>
                  <a:srgbClr val="4A5568"/>
                </a:solidFill>
              </a:rPr>
              <a:t>　仅限 Apple 设备，不通用</a:t>
            </a:r>
          </a:p>
          <a:p>
            <a:r>
              <a:rPr b="1">
                <a:solidFill>
                  <a:srgbClr val="1A2230"/>
                </a:solidFill>
              </a:rPr>
              <a:t>云端克隆</a:t>
            </a:r>
            <a:r>
              <a:rPr b="0">
                <a:solidFill>
                  <a:srgbClr val="4A5568"/>
                </a:solidFill>
              </a:rPr>
              <a:t>　必须联网，隐私与费用双重顾虑</a:t>
            </a:r>
          </a:p>
        </p:txBody>
      </p:sp>
      <p:sp>
        <p:nvSpPr>
          <p:cNvPr id="217" name=""/>
          <p:cNvSpPr/>
          <p:nvPr/>
        </p:nvSpPr>
        <p:spPr>
          <a:xfrm rot="0" flipH="0" flipV="0">
            <a:off x="6181725" y="3218688"/>
            <a:ext cx="5705475" cy="1883664"/>
          </a:xfrm>
          <a:prstGeom prst="roundRect">
            <a:avLst>
              <a:gd name="adj" fmla="val 4688"/>
            </a:avLst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372225" y="3401568"/>
            <a:ext cx="5324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我们的切入点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372225" y="3694176"/>
            <a:ext cx="5324475" cy="1371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b="1">
                <a:solidFill>
                  <a:srgbClr val="1A2230"/>
                </a:solidFill>
              </a:rPr>
              <a:t>换人群</a:t>
            </a:r>
            <a:r>
              <a:rPr b="0"/>
              <a:t>：以职业用嗓者的真实负担为设计起点</a:t>
            </a:r>
            <a:endParaRPr/>
          </a:p>
          <a:p>
            <a:r>
              <a:rPr b="1">
                <a:solidFill>
                  <a:srgbClr val="1A2230"/>
                </a:solidFill>
              </a:rPr>
              <a:t>减负担</a:t>
            </a:r>
            <a:r>
              <a:rPr b="0"/>
              <a:t>：65 秒覆盖全档，不给用户增加压力</a:t>
            </a:r>
          </a:p>
          <a:p>
            <a:r>
              <a:rPr b="1">
                <a:solidFill>
                  <a:srgbClr val="1A2230"/>
                </a:solidFill>
              </a:rPr>
              <a:t>护隐私</a:t>
            </a:r>
            <a:r>
              <a:rPr b="0"/>
              <a:t>：全程本地，数据不出设备</a:t>
            </a:r>
          </a:p>
          <a:p>
            <a:r>
              <a:rPr b="1">
                <a:solidFill>
                  <a:srgbClr val="1A2230"/>
                </a:solidFill>
              </a:rPr>
              <a:t>给答案</a:t>
            </a:r>
            <a:r>
              <a:rPr b="0"/>
              <a:t>：用数据回答“录多久就够”</a:t>
            </a:r>
          </a:p>
        </p:txBody>
      </p:sp>
      <p:sp>
        <p:nvSpPr>
          <p:cNvPr id="220" name=""/>
          <p:cNvSpPr/>
          <p:nvPr/>
        </p:nvSpPr>
        <p:spPr>
          <a:xfrm rot="0" flipH="0" flipV="0">
            <a:off x="304800" y="5285232"/>
            <a:ext cx="11582400" cy="658368"/>
          </a:xfrm>
          <a:prstGeom prst="roundRect">
            <a:avLst>
              <a:gd name="adj" fmla="val 1690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76250" y="5431536"/>
            <a:ext cx="112395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核心价值：把注意力从“技术能做什么”转向“谁需要它、用起来的代价是什么”——关注对象与研究视角的转变，本身就是本项目的创新所在。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23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一、背景与现状&lt;/Text&gt;&#10;    &lt;Text style={{ fontSize: 15, color: '#C9D8F0' }}&gt;真问题 + 现有方案都有硬缺口&lt;/Text&gt;&#10;  &lt;/Box&gt;&#10;  &lt;Box style={{ height: 580, padding: 32, gap: 16 }}&gt;&#10;    &lt;Box style={{ flexDirection: 'row', gap: 16, height: 118 }}&gt;&#10;      &lt;Box style={{ flex: 1, background: '#F0F5FC', borderRadius: 10, padding: 16, justifyContent: 'center' }}&gt;&#10;        &lt;Text style={{ fontSize: 34, color: '#D9534F', fontWeight: 'bold' }}&gt;33.81%&lt;/Text&gt;&#10;        &lt;Text style={{ fontSize: 15, color: '#4A5568', marginTop: 6 }}&gt;中小学 / 幼儿园教师嗓音疾病患病率{&quot;\n&quot;}（普通人群约 6%）&lt;/Text&gt;&#10;      &lt;/Box&gt;&#10;      &lt;Box style={{ flex: 1, background: '#F0F5FC', borderRadius: 10, padding: 16, justifyContent: 'center' }}&gt;&#10;        &lt;Text style={{ fontSize: 34, color: '#1E4FA8', fontWeight: 'bold' }}&gt;50–200 句&lt;/Text&gt;&#10;        &lt;Text style={{ fontSize: 15, color: '#4A5568', marginTop: 6 }}&gt;传统声音银行（Voice Banking）{&quot;\n&quot;}要求的最低录音门槛&lt;/Text&gt;&#10;      &lt;/Box&gt;&#10;      &lt;Box style={{ flex: 1, background: '#F0F5FC', borderRadius: 10, padding: 16, justifyContent: 'center' }}&gt;&#10;        &lt;Text style={{ fontSize: 34, color: '#1E4FA8', fontWeight: 'bold' }}&gt;必须联网&lt;/Text&gt;&#10;        &lt;Text style={{ fontSize: 15, color: '#4A5568', marginTop: 6 }}&gt;云端克隆的结构性限制{&quot;\n&quot;}医院 / 护理机构 / 航班用不了&lt;/Text&gt;&#10;      &lt;/Box&gt;&#10;    &lt;/Box&gt;&#10;    &lt;Text style={{ fontSize: 19, color: '#0E3F8C', fontWeight: 'bold' }}&gt;现有方案对比 —— 每一类都有硬缺口&lt;/Text&gt;&#10;    &lt;Table&#10;      style={{ width: '100%', height: 196 }}&#10;      defaultTextStyle={{ fontSize: 14, textAlign: 'center', color: '#1A2230' }}&#10;      defaultCellStyle={{ border: { left: { width: 1, color: '#D6DCE5' }, right: { width: 1, color: '#D6DCE5' }, top: { width: 1, color: '#D6DCE5' }, bottom: { width: 1, color: '#D6DCE5' } } }}&#10;      cells={[&#10;        [&#10;          { text: '现有方案', textStyle: { bold: true, color: '#FFFFFF' }, cellStyle: { background: { color: '#1E4FA8' } } },&#10;          { text: '门槛 / 特点', textStyle: { bold: true, color: '#FFFFFF' }, cellStyle: { background: { color: '#1E4FA8' } } },&#10;          { text: '硬缺口', textStyle: { bold: true, color: '#FFFFFF' }, cellStyle: { background: { color: '#1E4FA8' } } },&#10;        ],&#10;        ['传统声音银行（Acapela / SpeakUnique 等）', '需录 50–200 句', '录制负担重，难以坚持完成'],&#10;        [&#10;          { text: 'Apple Personal Voice 等厂商功能', cellStyle: { background: { color: '#F0F5FC' } } },&#10;          { text: '免费、端侧', cellStyle: { background: { color: '#F0F5FC' } } },&#10;          { text: '仅限 Apple 设备，Windows 无对应能力', cellStyle: { background: { color: '#F0F5FC' } } },&#10;        ],&#10;        ['云端 AI 克隆（1 分钟即时克隆）', '需 10 分钟以上才接近本人', '必须联网；长期订阅成本高'],&#10;      ]}&#10;    /&gt;&#10;    &lt;Box style={{ background: '#E8EFF8', borderRadius: 10, padding: 16, borderLeft: '5px solid #D9534F' }}&gt;&#10;      &lt;Text style={{ fontSize: 17, color: '#1A2230', lineHeight: 1.75 }}&gt;&#10;        &lt;Text style={{ fontWeight: 'bold', color: '#D9534F' }}&gt;真正的缺口不是&quot;Windows 上没人做&quot;，而是&quot;离线可用性&quot;&lt;/Text&gt;&#10;        —— 对行动受限或处于无网环境的人群，联网方案在结构上就不适用。&#10;        而在&quot;&lt;Text style={{ fontWeight: 'bold' }}&gt;本地离线 + 秒级参考音&lt;/Text&gt;&quot;这一格中，&#10;        &lt;Text style={{ fontWeight: 'bold' }}&gt;「质量代价究竟有多大」尚未被系统回答&lt;/Text&gt;。&#10;      &lt;/Text&gt;&#10;    &lt;/Box&gt;&#10;  &lt;/Box&gt;&#10;  &lt;Box style={{ height: 60, justifyContent: 'center', paddingLeft: 40 }}&gt;&#10;    &lt;Text style={{ fontSize: 15, color: '#8B97A8' }}&gt;韩山师范学院 · 大学生创新创业训练项目　　0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324350" y="219075"/>
            <a:ext cx="1866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一、背景与现状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343650" y="295275"/>
            <a:ext cx="1914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真问题</a:t>
            </a: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现有方案都有硬缺口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04800" y="1066800"/>
            <a:ext cx="3762375" cy="1123950"/>
          </a:xfrm>
          <a:prstGeom prst="roundRect">
            <a:avLst>
              <a:gd name="adj" fmla="val 847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57200" y="1238250"/>
            <a:ext cx="34575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9534F"/>
                </a:solidFill>
                <a:latin typeface="Microsoft YaHei"/>
                <a:ea typeface="Microsoft YaHei"/>
              </a:rPr>
              <a:t>33.81%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57200" y="1685925"/>
            <a:ext cx="3457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中小学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幼儿园教师嗓音疾病患病率</a:t>
            </a:r>
            <a:endParaRPr/>
          </a:p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（普通人群约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6%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4219575" y="1066800"/>
            <a:ext cx="3752850" cy="1123950"/>
          </a:xfrm>
          <a:prstGeom prst="roundRect">
            <a:avLst>
              <a:gd name="adj" fmla="val 847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371975" y="1238250"/>
            <a:ext cx="3448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50–200 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句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371975" y="1685925"/>
            <a:ext cx="34480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传统声音银行（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Voice Banking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要求的最低录音门槛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8124825" y="1066800"/>
            <a:ext cx="3762375" cy="1123950"/>
          </a:xfrm>
          <a:prstGeom prst="roundRect">
            <a:avLst>
              <a:gd name="adj" fmla="val 847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277225" y="1238250"/>
            <a:ext cx="34575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必须联网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277225" y="1685925"/>
            <a:ext cx="3457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云端克隆的结构性限制</a:t>
            </a:r>
            <a:endParaRPr/>
          </a:p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医院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护理机构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航班用不了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304800" y="2343150"/>
            <a:ext cx="11582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现有方案对比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每一类都有硬缺口</a:t>
            </a:r>
            <a:endParaRPr/>
          </a:p>
        </p:txBody>
      </p:sp>
      <p:graphicFrame>
        <p:nvGraphicFramePr>
          <p:cNvPr id="238" name=""/>
          <p:cNvGraphicFramePr/>
          <p:nvPr/>
        </p:nvGraphicFramePr>
        <p:xfrm rot="0" flipH="0" flipV="0">
          <a:off x="304800" y="2714625"/>
          <a:ext cx="11582400" cy="1866900"/>
        </p:xfrm>
        <a:graphic>
          <a:graphicData uri="http://schemas.openxmlformats.org/drawingml/2006/table">
            <a:tbl>
              <a:tblGrid>
                <a:gridCol w="4675204">
                  <a:extLst>
                    <a:ext uri="{9D8B030D-6E8A-4147-A177-3AD203B41FA5}">
                      <a16:colId val="1"/>
                    </a:ext>
                  </a:extLst>
                </a:gridCol>
                <a:gridCol w="2752160">
                  <a:extLst>
                    <a:ext uri="{9D8B030D-6E8A-4147-A177-3AD203B41FA5}">
                      <a16:colId val="2"/>
                    </a:ext>
                  </a:extLst>
                </a:gridCol>
                <a:gridCol w="4155036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667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现有方案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门槛 / 特点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硬缺口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667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传统声音银行（Acapela / SpeakUnique 等）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需录 50–200 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录制负担重，难以坚持完成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667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Apple Personal Voice 等厂商功能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免费、端侧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仅限 Apple 设备，Windows 无对应能力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667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云端 AI 克隆（1 分钟即时克隆）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需 10 分钟以上才接近本人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必须联网；长期订阅成本高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239" name=""/>
          <p:cNvSpPr/>
          <p:nvPr/>
        </p:nvSpPr>
        <p:spPr>
          <a:xfrm rot="0" flipH="0" flipV="0">
            <a:off x="352425" y="4733925"/>
            <a:ext cx="11582400" cy="990600"/>
          </a:xfrm>
          <a:prstGeom prst="roundRect">
            <a:avLst>
              <a:gd name="adj" fmla="val 961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352425" y="4733925"/>
            <a:ext cx="11582400" cy="990600"/>
          </a:xfrm>
          <a:custGeom>
            <a:pathLst>
              <a:path w="1216" h="10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9"/>
                </a:lnTo>
                <a:cubicBezTo>
                  <a:pt x="5" y="101"/>
                  <a:pt x="7" y="103"/>
                  <a:pt x="9" y="104"/>
                </a:cubicBezTo>
                <a:cubicBezTo>
                  <a:pt x="4" y="103"/>
                  <a:pt x="0" y="99"/>
                  <a:pt x="0" y="9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04825" y="4886325"/>
            <a:ext cx="1122997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真正的缺口不是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"Windows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上没人做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，而是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离线可用性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——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对行动受限或处于无网环境的人群，联网方案在结构上就不适用。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而在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本地离线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秒级参考音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这一格中，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「质量代价究竟有多大」尚未被系统回答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43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一、自我评述&lt;/Text&gt;&#10;    &lt;Text style={{ fontSize: 15, color: '#FFC107' }}&gt;★ 官方明列子项 · 清醒的自我认知，不是自夸&lt;/Text&gt;&#10;  &lt;/Box&gt;&#10;  &lt;Box style={{ height: 580, padding: 24, gap: 12 }}&gt;&#10;    &lt;Box style={{ background: '#E8EFF8', borderRadius: 10, padding: 14, flex: 1 }}&gt;&#10;      &lt;Text style={{ fontSize: 19, color: '#1E4FA8', fontWeight: 'bold' }}&gt;✓ 我们的优势&lt;/Text&gt;&#10;      &lt;Text style={{ fontSize: 14, color: '#1A2230', marginTop: 8, lineHeight: 1.8 }}&gt;&#10;        ① &lt;Text style={{ fontWeight: 'bold' }}&gt;前期基础扎实&lt;/Text&gt;：后端 35,667 行 / 前端 36,973 行 / 24 插件 / 1,940 测试 / CI 门禁 / 已开源 → &lt;Text style={{ color: '#1E4FA8', fontWeight: 'bold' }}&gt;可行性风险低&lt;/Text&gt;{&quot;\n&quot;}&#10;        ② &lt;Text style={{ fontWeight: 'bold' }}&gt;研究问题具体可测&lt;/Text&gt;：RQ1–RQ3 均对应明确量化指标，每个问题都有可执行的测量手段{&quot;\n&quot;}&#10;        ③ &lt;Text style={{ fontWeight: 'bold' }}&gt;评测引擎与协议已就绪&lt;/Text&gt;：848 行 + 141 测试，立案后可直接进入数据采集&#10;      &lt;/Text&gt;&#10;    &lt;/Box&gt;&#10;    &lt;Box style={{ background: '#FFFFFF', border: '2px solid #D9534F', borderRadius: 10, padding: 14, flex: 1 }}&gt;&#10;      &lt;Text style={{ fontSize: 19, color: '#D9534F', fontWeight: 'bold' }}&gt;△ 我们的不足（如实陈述）&lt;/Text&gt;&#10;      &lt;Text style={{ fontSize: 14, color: '#1A2230', marginTop: 8, lineHeight: 1.8 }}&gt;&#10;        ① &lt;Text style={{ fontWeight: 'bold' }}&gt;主观听测（RQ3）团队尚无实施经验&lt;/Text&gt;，MOS / ABX 的组织、被试管理、评分一致性控制都需方法指导{&quot;\n&quot;}&#10;        ② &lt;Text style={{ fontWeight: 'bold' }}&gt;被试招募依赖院内协调，时间不完全可控&lt;/Text&gt;{&quot;\n&quot;}&#10;        ③ &lt;Text style={{ fontWeight: 'bold' }}&gt;团队为本科生，统计方法需补课&lt;/Text&gt;（重复测量 ANOVA / 混合效应模型 / 相关性分析）{&quot;\n&quot;}&#10;        ④ &lt;Text style={{ fontWeight: 'bold' }}&gt;算力有限&lt;/Text&gt;（单机消费级 GPU）&#10;      &lt;/Text&gt;&#10;    &lt;/Box&gt;&#10;    &lt;Box style={{ background: '#0E3F8C', borderRadius: 10, padding: 14, flex: 1 }}&gt;&#10;      &lt;Text style={{ fontSize: 19, color: '#FFC107', fontWeight: 'bold' }}&gt;→ 每条不足，都有对应措施&lt;/Text&gt;&#10;      &lt;Text style={{ fontSize: 14, color: '#FFFFFF', marginTop: 8, lineHeight: 1.8 }}&gt;&#10;        ① 立项后&lt;Text style={{ fontWeight: 'bold' }}&gt;先做小规模预实验&lt;/Text&gt;跑通流程；请老师把关听测设计与统计；复用已有盲听平台（随机化、不显示条件）{&quot;\n&quot;}&#10;        ② &lt;Text style={{ fontWeight: 'bold' }}&gt;2026 年 10 月内即启动招募&lt;/Text&gt;；每人实际仅需录约 65 秒，参与成本低{&quot;\n&quot;}&#10;        ③ 立项后 2 个月内完成统计方法自学；关键分析由指导老师复核{&quot;\n&quot;}&#10;        ④ 实验规模控制在 192 样本，单机可承受；评测引擎设计上&lt;Text style={{ fontWeight: 'bold' }}&gt;不依赖 GPU&lt;/Text&gt;&#10;      &lt;/Text&gt;&#10;    &lt;/Box&gt;&#10;  &lt;/Box&gt;&#10;  &lt;Box style={{ height: 60, justifyContent: 'center', paddingLeft: 40 }}&gt;&#10;    &lt;Text style={{ fontSize: 15, color: '#8B97A8' }}&gt;韩山师范学院 · 大学生创新创业训练项目　　06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981450" y="219075"/>
            <a:ext cx="1600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一、自我评述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734050" y="29527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C10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125">
                <a:solidFill>
                  <a:srgbClr val="FFC107"/>
                </a:solidFill>
                <a:latin typeface="Microsoft YaHei"/>
                <a:ea typeface="Microsoft YaHei"/>
              </a:rPr>
              <a:t>官方明列子项</a:t>
            </a:r>
            <a:r>
              <a:rPr lang="en-US" sz="1125">
                <a:solidFill>
                  <a:srgbClr val="FFC10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FC107"/>
                </a:solidFill>
                <a:latin typeface="Microsoft YaHei"/>
                <a:ea typeface="Microsoft YaHei"/>
              </a:rPr>
              <a:t>清醒的自我认知，不是自夸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228600" y="990600"/>
            <a:ext cx="11734800" cy="1428750"/>
          </a:xfrm>
          <a:prstGeom prst="roundRect">
            <a:avLst>
              <a:gd name="adj" fmla="val 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61950" y="1123950"/>
            <a:ext cx="1146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我们的优势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61950" y="1419225"/>
            <a:ext cx="11468100" cy="8667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前期基础扎实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：后端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37,872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行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40,169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行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27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插件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2,847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测试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CI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门禁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已开源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可行性风险低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研究问题具体可测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RQ1–RQ3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均对应明确量化指标，每个问题都有可执行的测量手段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评测引擎与协议已就绪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1559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行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+ 99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测试，立案后可直接进入数据采集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228600" y="2533650"/>
            <a:ext cx="117348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61950" y="2667000"/>
            <a:ext cx="1146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△ </a:t>
            </a: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我们的不足（如实陈述）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361950" y="2962275"/>
            <a:ext cx="11468100" cy="11525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主观听测（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RQ3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）团队尚无实施经验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MOS / ABX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的组织、被试管理、评分一致性控制都需方法指导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被试招募依赖院内协调，时间不完全可控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团队为本科生，统计方法需补课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（重复测量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ANOVA /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混合效应模型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相关性分析）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算力有限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（单机消费级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GPU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228600" y="4362450"/>
            <a:ext cx="11734800" cy="1714500"/>
          </a:xfrm>
          <a:prstGeom prst="roundRect">
            <a:avLst>
              <a:gd name="adj" fmla="val 555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61950" y="4495800"/>
            <a:ext cx="1146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425" b="1">
                <a:solidFill>
                  <a:srgbClr val="FFC107"/>
                </a:solidFill>
                <a:latin typeface="Microsoft YaHei"/>
                <a:ea typeface="Microsoft YaHei"/>
              </a:rPr>
              <a:t>每条不足，都有对应措施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361950" y="4791075"/>
            <a:ext cx="11468100" cy="11525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立项后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先做小规模预实验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跑通流程；请老师把关听测设计与统计；复用已有盲听平台（随机化、不显示条件）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② 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月内即启动招募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；每人实际仅需录约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65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秒，参与成本低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立项后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个月内完成统计方法自学；关键分析由指导老师复核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实验规模控制在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192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样本，单机可承受；评测引擎设计上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不依赖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GPU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58" name="" descr="&lt;Slide style={{ padding: 0, background: '#0E3F8C' }}&gt;&#10;  &lt;Box style={{ height: 720, justifyContent: 'center', paddingLeft: 80, paddingRight: 80 }}&gt;&#10;    &lt;Text style={{ fontSize: 120, color: '#3D7BD9', fontWeight: 'bold' }}&gt;02&lt;/Text&gt;&#10;    &lt;Text style={{ fontSize: 46, color: '#FFFFFF', fontWeight: 'bold', marginTop: 4 }}&gt;目的意义 · 技术水平 · 基本思路 · 适用范围&lt;/Text&gt;&#10;    &lt;Box style={{ width: 90, height: 5, background: '#FFC107', marginTop: 22 }} /&gt;&#10;    &lt;Text style={{ fontSize: 21, color: '#C9D8F0', marginTop: 24, lineHeight: 1.75 }}&gt;&#10;      对应官方要求第 2 项：目的意义、技术水平、&lt;Text style={{ color: '#FFC107', fontWeight: 'bold' }}&gt;基本思路&lt;/Text&gt;、&#10;      研究方案及路线、&lt;Text style={{ color: '#FFC107', fontWeight: 'bold' }}&gt;适用范围或推广前景&lt;/Text&gt;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62000" y="2000250"/>
            <a:ext cx="1066800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62000" y="3409950"/>
            <a:ext cx="10668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目的意义</a:t>
            </a: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技术水平</a:t>
            </a: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基本思路</a:t>
            </a: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适用范围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762000" y="4152900"/>
            <a:ext cx="85725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62000" y="4429125"/>
            <a:ext cx="10668000" cy="4286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对应官方要求第</a:t>
            </a:r>
            <a:r>
              <a:rPr lang="en-US" sz="1575">
                <a:solidFill>
                  <a:srgbClr val="C9D8F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项：目的意义、技术水平、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基本思路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、</a:t>
            </a:r>
            <a:r>
              <a:rPr lang="en-US" sz="1575">
                <a:solidFill>
                  <a:srgbClr val="C9D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研究方案及路线、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适用范围或推广前景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64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二、目的意义与技术水平&lt;/Text&gt;&#10;    &lt;Text style={{ fontSize: 15, color: '#C9D8F0' }}&gt;技术水平 = 可核验的硬数字&lt;/Text&gt;&#10;  &lt;/Box&gt;&#10;  &lt;Box style={{ height: 580, flexDirection: 'row', padding: 30, gap: 24 }}&gt;&#10;    &lt;Box style={{ width: '38%', background: '#F0F5FC', borderRadius: 12, padding: 22, borderLeft: '6px solid #1E4FA8' }}&gt;&#10;      &lt;Text style={{ fontSize: 21, color: '#0E3F8C', fontWeight: 'bold' }}&gt;目的与意义&lt;/Text&gt;&#10;      &lt;Text style={{ fontSize: 15, color: '#1A2230', marginTop: 12, lineHeight: 1.95 }}&gt;&#10;        &lt;Text style={{ fontWeight: 'bold', color: '#1E4FA8' }}&gt;目的&lt;/Text&gt;{&quot;\n&quot;}&#10;        建立一套可复现的测量方法，回答&quot;本地离线、秒级参考音条件下的声音复现质量边界&quot;，并给出面向普通用户的可操作结论。&lt;Text style={{ color: '#D9534F', fontWeight: 'bold' }}&gt;（要保存声音，最少录多久？）&lt;/Text&gt;{&quot;\n\n&quot;}&#10;        &lt;Text style={{ fontWeight: 'bold', color: '#1E4FA8' }}&gt;意义&lt;/Text&gt;{&quot;\n&quot;}&#10;        · 对职业用嗓人群：提供不依赖网络与特定设备的保存路径{&quot;\n&quot;}&#10;        · 对研究方法：补充系统性、控制变量的实验数据{&quot;\n&quot;}&#10;        · 对教学场景：微课配音的本地化、离线化生产{&quot;\n&quot;}&#10;        · 对人才培养：完整的研究训练全链条&#10;      &lt;/Text&gt;&#10;    &lt;/Box&gt;&#10;    &lt;Box style={{ flex: 1, gap: 12 }}&gt;&#10;      &lt;Text style={{ fontSize: 21, color: '#0E3F8C', fontWeight: 'bold' }}&gt;技术水平 —— 前期积累已达水平（本机实测）&lt;/Text&gt;&#10;      &lt;Box style={{ flexDirection: 'row', gap: 12, height: 112 }}&gt;&#10;        &lt;Box style={{ flex: 1, background: '#0E3F8C', borderRadius: 10, padding: 14, justifyContent: 'center' }}&gt;&#10;          &lt;Text style={{ fontSize: 38, color: '#FFC107', fontWeight: 'bold' }}&gt;50ms&lt;/Text&gt;&#10;          &lt;Text style={{ fontSize: 13, color: '#C9D8F0', marginTop: 4 }}&gt;端到端延迟 p50{&quot;\n&quot;}RTX 5060 · 消费级 GPU&lt;/Text&gt;&#10;        &lt;/Box&gt;&#10;        &lt;Box style={{ flex: 1, background: '#1E4FA8', borderRadius: 10, padding: 14, justifyContent: 'center' }}&gt;&#10;          &lt;Text style={{ fontSize: 38, color: '#FFFFFF', fontWeight: 'bold' }}&gt;0.53&lt;/Text&gt;&#10;          &lt;Text style={{ fontSize: 13, color: '#C9D8F0', marginTop: 4 }}&gt;实时率 RTF{&quot;\n&quot;}91 句连续合成零失败&lt;/Text&gt;&#10;        &lt;/Box&gt;&#10;        &lt;Box style={{ flex: 1, background: '#3D7BD9', borderRadius: 10, padding: 14, justifyContent: 'center' }}&gt;&#10;          &lt;Text style={{ fontSize: 38, color: '#FFFFFF', fontWeight: 'bold' }}&gt;6/6&lt;/Text&gt;&#10;          &lt;Text style={{ fontSize: 13, color: '#D8E6F8', marginTop: 4 }}&gt;六项可核验指标{&quot;\n&quot;}延迟/实时率/规模/测试&lt;/Text&gt;&#10;        &lt;/Box&gt;&#10;      &lt;/Box&gt;&#10;      &lt;Table&#10;        style={{ width: '100%', height: 220 }}&#10;        defaultTextStyle={{ fontSize: 13, textAlign: 'center', color: '#1A2230' }}&#10;        defaultCellStyle={{ border: { left: { width: 1, color: '#D6DCE5' }, right: { width: 1, color: '#D6DCE5' }, top: { width: 1, color: '#D6DCE5' }, bottom: { width: 1, color: '#D6DCE5' } } }}&#10;        cells={[&#10;          [&#10;            { text: '能力维度', textStyle: { bold: true, color: '#FFFFFF' }, cellStyle: { background: { color: '#1E4FA8' } } },&#10;            { text: '现状', textStyle: { bold: true, color: '#FFFFFF' }, cellStyle: { background: { color: '#1E4FA8' } } },&#10;          ],&#10;          ['实时语音转换延迟', '消费级 GPU 端到端 p50 ≈ 50 ms'],&#10;          [&#10;            { text: '小样本声音克隆', cellStyle: { background: { color: '#F0F5FC' } } },&#10;            { text: 'Qwen3-TTS 已跑通，秒级参考音可生成语音', cellStyle: { background: { color: '#F0F5FC' } } },&#10;          ],&#10;          ['长文本语音合成', '91 句连续合成零失败，RTF 0.53'],&#10;          [&#10;            { text: '客观指标栈', cellStyle: { background: { color: '#F0F5FC' } } },&#10;            { text: 'HNR / H1-H2 / 谱倾斜 / jitter / shimmer 已实现', cellStyle: { background: { color: '#F0F5FC' } } },&#10;          ],&#10;          ['系统规模', '后端 35,667 行 · 前端 36,973 行 · 24 插件 · 1,940 测试'],&#10;          [&#10;            { text: '音频注入任意应用', cellStyle: { background: { color: '#F0F5FC' } } },&#10;            { text: '虚拟声卡路由，微信 / 游戏场景已验证', cellStyle: { background: { color: '#F0F5FC' } } },&#10;          ],&#10;        ]}&#10;      /&gt;&#10;    &lt;/Box&gt;&#10;  &lt;/Box&gt;&#10;  &lt;Box style={{ height: 60, justifyContent: 'center', paddingLeft: 40 }}&gt;&#10;    &lt;Text style={{ fontSize: 15, color: '#8B97A8' }}&gt;韩山师范学院 · 大学生创新创业训练项目　　08 / 18　│　注：以上均为前期基础，非本项目研究成果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857625" y="219075"/>
            <a:ext cx="2933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二、目的意义与技术水平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943725" y="295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技术水平</a:t>
            </a: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可核验的硬数字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342900" y="1047750"/>
            <a:ext cx="4419600" cy="4953000"/>
          </a:xfrm>
          <a:prstGeom prst="roundRect">
            <a:avLst>
              <a:gd name="adj" fmla="val 25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342900" y="1047750"/>
            <a:ext cx="4419600" cy="4953000"/>
          </a:xfrm>
          <a:custGeom>
            <a:pathLst>
              <a:path w="464" h="520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514"/>
                </a:lnTo>
                <a:cubicBezTo>
                  <a:pt x="6" y="517"/>
                  <a:pt x="8" y="519"/>
                  <a:pt x="11" y="520"/>
                </a:cubicBezTo>
                <a:cubicBezTo>
                  <a:pt x="5" y="519"/>
                  <a:pt x="0" y="514"/>
                  <a:pt x="0" y="50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52450" y="1257300"/>
            <a:ext cx="3943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目的与意义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52450" y="1619250"/>
            <a:ext cx="3943350" cy="3343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目的</a:t>
            </a:r>
            <a:endParaRPr/>
          </a:p>
          <a:p>
            <a:pPr>
              <a:lnSpc>
                <a:spcPct val="195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把声音保存的关注对象从创作与娱乐场景，转向职业用嗓人群的真实负担，回答“本地离线、秒级参考音条件下的复现质量边界”，并给出面向普通用户的可操作结论。（要保存声音，最少录多久？）</a:t>
            </a:r>
            <a:endParaRPr/>
          </a:p>
          <a:p>
            <a:pPr>
              <a:lnSpc>
                <a:spcPct val="19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对职业用嗓人群：提供不依赖网络与特定设备的保存路径</a:t>
            </a:r>
            <a:endParaRPr/>
          </a:p>
          <a:p>
            <a:pPr>
              <a:lnSpc>
                <a:spcPct val="19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对研究方法：补充系统性、控制变量的实验数据</a:t>
            </a:r>
            <a:endParaRPr/>
          </a:p>
          <a:p>
            <a:pPr>
              <a:lnSpc>
                <a:spcPct val="19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对教学场景：微课配音的本地化、离线化生产</a:t>
            </a:r>
            <a:endParaRPr/>
          </a:p>
          <a:p>
            <a:pPr>
              <a:lnSpc>
                <a:spcPct val="19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对人才培养：完整的研究训练全链条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933950" y="1047750"/>
            <a:ext cx="6972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技术水平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前期积累已达水平（本机实测）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4933950" y="1409700"/>
            <a:ext cx="2247900" cy="1066800"/>
          </a:xfrm>
          <a:prstGeom prst="roundRect">
            <a:avLst>
              <a:gd name="adj" fmla="val 892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067300" y="1552575"/>
            <a:ext cx="19812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C107"/>
                </a:solidFill>
                <a:latin typeface="Microsoft YaHei"/>
                <a:ea typeface="Microsoft YaHei"/>
              </a:rPr>
              <a:t>≈300ms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067300" y="2028825"/>
            <a:ext cx="1981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9D8F0"/>
                </a:solidFill>
                <a:latin typeface="Microsoft YaHei"/>
                <a:ea typeface="Microsoft YaHei"/>
              </a:rPr>
              <a:t>端到端延迟 p50（三段之和）</a:t>
            </a:r>
            <a:r>
              <a:rPr lang="en-US" sz="9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p50</a:t>
            </a:r>
            <a:endParaRPr/>
          </a:p>
          <a:p>
            <a:pPr>
              <a:lnSpc>
                <a:spcPct val="100000"/>
              </a:lnSpc>
            </a:pPr>
            <a:r>
              <a:rPr lang="en-US" sz="975">
                <a:solidFill>
                  <a:srgbClr val="C9D8F0"/>
                </a:solidFill>
                <a:latin typeface="Microsoft YaHei"/>
                <a:ea typeface="Microsoft YaHei"/>
              </a:rPr>
              <a:t xml:space="preserve">RTX 5060 · </a:t>
            </a:r>
            <a:r>
              <a:rPr lang="zh-CN" sz="975">
                <a:solidFill>
                  <a:srgbClr val="C9D8F0"/>
                </a:solidFill>
                <a:latin typeface="Microsoft YaHei"/>
                <a:ea typeface="Microsoft YaHei"/>
              </a:rPr>
              <a:t>消费级</a:t>
            </a:r>
            <a:r>
              <a:rPr lang="en-US" sz="975">
                <a:solidFill>
                  <a:srgbClr val="C9D8F0"/>
                </a:solidFill>
                <a:latin typeface="Microsoft YaHei"/>
                <a:ea typeface="Microsoft YaHei"/>
              </a:rPr>
              <a:t xml:space="preserve"> GPU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7296150" y="1409700"/>
            <a:ext cx="2247900" cy="1066800"/>
          </a:xfrm>
          <a:prstGeom prst="roundRect">
            <a:avLst>
              <a:gd name="adj" fmla="val 89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429500" y="1552575"/>
            <a:ext cx="19812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0.53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429500" y="2028825"/>
            <a:ext cx="1981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9D8F0"/>
                </a:solidFill>
                <a:latin typeface="Microsoft YaHei"/>
                <a:ea typeface="Microsoft YaHei"/>
              </a:rPr>
              <a:t>实时率</a:t>
            </a:r>
            <a:r>
              <a:rPr lang="en-US" sz="975">
                <a:solidFill>
                  <a:srgbClr val="C9D8F0"/>
                </a:solidFill>
                <a:latin typeface="Microsoft YaHei"/>
                <a:ea typeface="Microsoft YaHei"/>
              </a:rPr>
              <a:t xml:space="preserve"> RTF</a:t>
            </a:r>
            <a:endParaRPr/>
          </a:p>
          <a:p>
            <a:pPr>
              <a:lnSpc>
                <a:spcPct val="100000"/>
              </a:lnSpc>
            </a:pPr>
            <a:r>
              <a:rPr lang="en-US" sz="975">
                <a:solidFill>
                  <a:srgbClr val="C9D8F0"/>
                </a:solidFill>
                <a:latin typeface="Microsoft YaHei"/>
                <a:ea typeface="Microsoft YaHei"/>
              </a:rPr>
              <a:t xml:space="preserve">91 </a:t>
            </a:r>
            <a:r>
              <a:rPr lang="zh-CN" sz="975">
                <a:solidFill>
                  <a:srgbClr val="C9D8F0"/>
                </a:solidFill>
                <a:latin typeface="Microsoft YaHei"/>
                <a:ea typeface="Microsoft YaHei"/>
              </a:rPr>
              <a:t>句连续合成零失败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9658350" y="1409700"/>
            <a:ext cx="2247900" cy="1066800"/>
          </a:xfrm>
          <a:prstGeom prst="roundRect">
            <a:avLst>
              <a:gd name="adj" fmla="val 8929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791700" y="1552575"/>
            <a:ext cx="19812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6/6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791700" y="2028825"/>
            <a:ext cx="1981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8E6F8"/>
                </a:solidFill>
                <a:latin typeface="Microsoft YaHei"/>
                <a:ea typeface="Microsoft YaHei"/>
              </a:rPr>
              <a:t>六项可核验指标</a:t>
            </a:r>
            <a:endParaRPr/>
          </a:p>
          <a:p>
            <a:pPr>
              <a:lnSpc>
                <a:spcPct val="100000"/>
              </a:lnSpc>
            </a:pPr>
            <a:r>
              <a:rPr lang="zh-CN" sz="975">
                <a:solidFill>
                  <a:srgbClr val="D8E6F8"/>
                </a:solidFill>
                <a:latin typeface="Microsoft YaHei"/>
                <a:ea typeface="Microsoft YaHei"/>
              </a:rPr>
              <a:t>延迟</a:t>
            </a:r>
            <a:r>
              <a:rPr lang="en-US" sz="975">
                <a:solidFill>
                  <a:srgbClr val="D8E6F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D8E6F8"/>
                </a:solidFill>
                <a:latin typeface="Microsoft YaHei"/>
                <a:ea typeface="Microsoft YaHei"/>
              </a:rPr>
              <a:t>实时率</a:t>
            </a:r>
            <a:r>
              <a:rPr lang="en-US" sz="975">
                <a:solidFill>
                  <a:srgbClr val="D8E6F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D8E6F8"/>
                </a:solidFill>
                <a:latin typeface="Microsoft YaHei"/>
                <a:ea typeface="Microsoft YaHei"/>
              </a:rPr>
              <a:t>规模</a:t>
            </a:r>
            <a:r>
              <a:rPr lang="en-US" sz="975">
                <a:solidFill>
                  <a:srgbClr val="D8E6F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D8E6F8"/>
                </a:solidFill>
                <a:latin typeface="Microsoft YaHei"/>
                <a:ea typeface="Microsoft YaHei"/>
              </a:rPr>
              <a:t>测试</a:t>
            </a:r>
            <a:endParaRPr/>
          </a:p>
        </p:txBody>
      </p:sp>
      <p:graphicFrame>
        <p:nvGraphicFramePr>
          <p:cNvPr id="283" name=""/>
          <p:cNvGraphicFramePr/>
          <p:nvPr/>
        </p:nvGraphicFramePr>
        <p:xfrm rot="0" flipH="0" flipV="0">
          <a:off x="4933950" y="2590800"/>
          <a:ext cx="6972300" cy="2095500"/>
        </p:xfrm>
        <a:graphic>
          <a:graphicData uri="http://schemas.openxmlformats.org/drawingml/2006/table">
            <a:tbl>
              <a:tblGrid>
                <a:gridCol w="1799303">
                  <a:extLst>
                    <a:ext uri="{9D8B030D-6E8A-4147-A177-3AD203B41FA5}">
                      <a16:colId val="1"/>
                    </a:ext>
                  </a:extLst>
                </a:gridCol>
                <a:gridCol w="5172997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2993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能力维度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2993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实时语音转换延迟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消费级 GPU 端到端 p50 ≈ 300 ms（p95 ≈ 360 ms）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993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小样本声音克隆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Qwen3-TTS 已跑通，秒级参考音可生成语音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2993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长文本语音合成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91 句连续合成零失败，RTF 0.53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2993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客观指标栈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HNR / H1-H2 / 谱倾斜 / jitter / shimmer 已实现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2993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系统规模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后端 37,872 行 · 前端 40,169 行 · 27 插件 · 2,847 测试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2993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音频注入任意应用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虚拟声卡路由，微信 / 游戏场景已验证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08 / 18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　│　注：以上均为前期基础，非本项目研究成果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85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二、基本思路&lt;/Text&gt;&#10;    &lt;Text style={{ fontSize: 15, color: '#FFC107' }}&gt;★ 官方明列子项 · 讲&quot;怎么想&quot;的，不是&quot;怎么做&quot;的&lt;/Text&gt;&#10;  &lt;/Box&gt;&#10;  &lt;Box style={{ height: 580, padding: 26, gap: 14 }}&gt;&#10;    &lt;Box style={{ background: '#0E3F8C', borderRadius: 12, padding: 18 }}&gt;&#10;      &lt;Text style={{ fontSize: 20, color: '#FFC107', fontWeight: 'bold', lineHeight: 1.5 }}&gt;&#10;        一句话思路：不发明新模型，而是把已有成熟模型工程化成可控实验平台，用它把&quot;质量边界&quot;这个尚未被系统回答的问题回答掉。&#10;      &lt;/Text&gt;&#10;    &lt;/Box&gt;&#10;    &lt;Box style={{ flex: 1, gap: 8, justifyContent: 'center' }}&gt;&#10;      &lt;Box style={{ flexDirection: 'row', gap: 12, alignItems: 'center', height: 62 }}&gt;&#10;        &lt;Box style={{ width: 44, height: 44, background: '#1E4FA8', borderRadius: 22, justifyContent: 'center', alignItems: 'center' }}&gt;&#10;          &lt;Text style={{ fontSize: 20, color: '#FFFFFF', fontWeight: 'bold' }}&gt;1&lt;/Text&gt;&#10;        &lt;/Box&gt;&#10;        &lt;Box style={{ flex: 1, background: '#F0F5FC', borderRadius: 8, padding: 12 }}&gt;&#10;          &lt;Text style={{ fontSize: 15, color: '#1A2230' }}&gt;已有成熟模型表现已经够好（&lt;Text style={{ fontWeight: 'bold', color: '#1E4FA8' }}&gt;秒级参考音即可生成可懂语音&lt;/Text&gt;）→ 那就不需要自己训模型&lt;/Text&gt;&#10;        &lt;/Box&gt;&#10;      &lt;/Box&gt;&#10;      &lt;Box style={{ flexDirection: 'row', gap: 12, alignItems: 'center', height: 62 }}&gt;&#10;        &lt;Box style={{ width: 44, height: 44, background: '#1E4FA8', borderRadius: 22, justifyContent: 'center', alignItems: 'center' }}&gt;&#10;          &lt;Text style={{ fontSize: 20, color: '#FFFFFF', fontWeight: 'bold' }}&gt;2&lt;/Text&gt;&#10;        &lt;/Box&gt;&#10;        &lt;Box style={{ flex: 1, background: '#E8EFF8', borderRadius: 8, padding: 12, border: '2px solid #D9534F' }}&gt;&#10;          &lt;Text style={{ fontSize: 15, color: '#1A2230' }}&gt;问题于是变成：&lt;Text style={{ fontWeight: 'bold', color: '#D9534F' }}&gt;「到底给它多少参考音才够？」&lt;/Text&gt;← 这才是缺系统答案的地方&lt;/Text&gt;&#10;        &lt;/Box&gt;&#10;      &lt;/Box&gt;&#10;      &lt;Box style={{ flexDirection: 'row', gap: 12, alignItems: 'center', height: 62 }}&gt;&#10;        &lt;Box style={{ width: 44, height: 44, background: '#1E4FA8', borderRadius: 22, justifyContent: 'center', alignItems: 'center' }}&gt;&#10;          &lt;Text style={{ fontSize: 20, color: '#FFFFFF', fontWeight: 'bold' }}&gt;3&lt;/Text&gt;&#10;        &lt;/Box&gt;&#10;        &lt;Box style={{ flex: 1, background: '#F0F5FC', borderRadius: 8, padding: 12 }}&gt;&#10;          &lt;Text style={{ fontSize: 15, color: '#1A2230' }}&gt;要回答它，必须排除混淆因素 → &lt;Text style={{ fontWeight: 'bold', color: '#1E4FA8' }}&gt;控制变量：同一说话人、同一麦克风、同一房间，只改变参考音时长&lt;/Text&gt;&lt;/Text&gt;&#10;        &lt;/Box&gt;&#10;      &lt;/Box&gt;&#10;      &lt;Box style={{ flexDirection: 'row', gap: 12, alignItems: 'center', height: 62 }}&gt;&#10;        &lt;Box style={{ width: 44, height: 44, background: '#1E4FA8', borderRadius: 22, justifyContent: 'center', alignItems: 'center' }}&gt;&#10;          &lt;Text style={{ fontSize: 20, color: '#FFFFFF', fontWeight: 'bold' }}&gt;4&lt;/Text&gt;&#10;        &lt;/Box&gt;&#10;        &lt;Box style={{ flex: 1, background: '#F0F5FC', borderRadius: 8, padding: 12 }}&gt;&#10;          &lt;Text style={{ fontSize: 15, color: '#1A2230' }}&gt;所以要做的是&quot;&lt;Text style={{ fontWeight: 'bold', color: '#1E4FA8' }}&gt;测量平台 + 严格协议&lt;/Text&gt;&quot;，而不是&quot;更大的模型&quot;或&quot;更炫的界面&quot;&lt;/Text&gt;&#10;        &lt;/Box&gt;&#10;      &lt;/Box&gt;&#10;      &lt;Box style={{ flexDirection: 'row', gap: 12, alignItems: 'center', height: 62 }}&gt;&#10;        &lt;Box style={{ width: 44, height: 44, background: '#D9534F', borderRadius: 22, justifyContent: 'center', alignItems: 'center' }}&gt;&#10;          &lt;Text style={{ fontSize: 20, color: '#FFFFFF', fontWeight: 'bold' }}&gt;5&lt;/Text&gt;&#10;        &lt;/Box&gt;&#10;        &lt;Box style={{ flex: 1, background: '#FFC107', borderRadius: 8, padding: 12 }}&gt;&#10;          &lt;Text style={{ fontSize: 15, color: '#1A2230' }}&gt;输出一个诚实的答案：&lt;Text style={{ fontWeight: 'bold' }}&gt;录多久就够&lt;/Text&gt;；并把它固化为&lt;Text style={{ fontWeight: 'bold' }}&gt;自动质量门禁&lt;/Text&gt;，反哺产品&lt;/Text&gt;&#10;        &lt;/Box&gt;&#10;      &lt;/Box&gt;&#10;    &lt;/Box&gt;&#10;    &lt;Box style={{ background: '#E8EFF8', borderRadius: 10, padding: 14, borderLeft: '5px solid #1E4FA8' }}&gt;&#10;      &lt;Text style={{ fontSize: 15, color: '#1A2230', lineHeight: 1.7 }}&gt;&#10;        &lt;Text style={{ fontWeight: 'bold', color: '#1E4FA8' }}&gt;这个思路的价值在于&lt;/Text&gt;：把&quot;&lt;Text style={{ fontWeight: 'bold' }}&gt;能不能用&lt;/Text&gt;&quot;（凭感觉）转化为&quot;&lt;Text style={{ fontWeight: 'bold' }}&gt;在什么条件下、以什么代价可用&lt;/Text&gt;&quot;（可以用数据回答）——后者的结论是&lt;Text style={{ fontWeight: 'bold', color: '#D9534F' }}&gt;可复现、可验证、可被他人使用&lt;/Text&gt;的。&#10;      &lt;/Text&gt;&#10;    &lt;/Box&gt;&#10;  &lt;/Box&gt;&#10;  &lt;Box style={{ height: 60, justifyContent: 'center', paddingLeft: 40 }}&gt;&#10;    &lt;Text style={{ fontSize: 15, color: '#8B97A8' }}&gt;韩山师范学院 · 大学生创新创业训练项目　　09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857625" y="219075"/>
            <a:ext cx="1600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二、基本思路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610225" y="295275"/>
            <a:ext cx="310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b="0"/>
              <a:t>★ 官方明列子项 · 从"人"出发，不是从"模型"出发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247650" y="1009650"/>
            <a:ext cx="11696700" cy="685800"/>
          </a:xfrm>
          <a:prstGeom prst="roundRect">
            <a:avLst>
              <a:gd name="adj" fmla="val 1666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19100" y="1181100"/>
            <a:ext cx="113538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b="0" sz="1900"/>
              <a:t>一句话思路：老师的嗓子会坏，但现有方案门槛太高、用不上——</a:t>
            </a:r>
            <a:r>
              <a:rPr b="1" sz="1900"/>
              <a:t>能不能让 ta 录一分钟就够？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247650" y="20478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00050" y="21431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781050" y="2057400"/>
            <a:ext cx="11163300" cy="400050"/>
          </a:xfrm>
          <a:prstGeom prst="roundRect">
            <a:avLst>
              <a:gd name="adj" fmla="val 1904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95350" y="217170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b="0"/>
              <a:t>起点是</a:t>
            </a:r>
            <a:r>
              <a:rPr b="1">
                <a:solidFill>
                  <a:srgbClr val="0E3F8C"/>
                </a:solidFill>
              </a:rPr>
              <a:t>人的困境</a:t>
            </a:r>
            <a:r>
              <a:rPr b="0"/>
              <a:t>：职业用嗓人群的嗓音损伤真实且高发，而声音一旦失去</a:t>
            </a:r>
            <a:r>
              <a:rPr b="1"/>
              <a:t>不可逆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247650" y="27146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00050" y="28098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81050" y="2724150"/>
            <a:ext cx="111633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95350" y="283845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b="0"/>
              <a:t>但现有方案的</a:t>
            </a:r>
            <a:r>
              <a:rPr b="1">
                <a:solidFill>
                  <a:srgbClr val="D9534F"/>
                </a:solidFill>
              </a:rPr>
              <a:t>门槛高到用不上</a:t>
            </a:r>
            <a:r>
              <a:rPr b="0"/>
              <a:t>：要录 50–200 句 / 只支持 Apple 设备 / 必须联网——</a:t>
            </a:r>
            <a:r>
              <a:rPr b="1"/>
              <a:t>普通人根本没机会保存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247650" y="33813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00050" y="34766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781050" y="3390900"/>
            <a:ext cx="11163300" cy="400050"/>
          </a:xfrm>
          <a:prstGeom prst="roundRect">
            <a:avLst>
              <a:gd name="adj" fmla="val 1904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95350" y="350520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b="0"/>
              <a:t>所以要把门槛</a:t>
            </a:r>
            <a:r>
              <a:rPr b="1">
                <a:solidFill>
                  <a:srgbClr val="0E3F8C"/>
                </a:solidFill>
              </a:rPr>
              <a:t>降到"负担得起"</a:t>
            </a:r>
            <a:r>
              <a:rPr b="0"/>
              <a:t>：离线、不挑设备、</a:t>
            </a:r>
            <a:r>
              <a:rPr b="1"/>
              <a:t>尽量少录</a:t>
            </a:r>
            <a:r>
              <a:rPr b="0"/>
              <a:t>——而"最少能录多少"没人系统回答过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247650" y="40481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00050" y="41433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781050" y="4057650"/>
            <a:ext cx="11163300" cy="400050"/>
          </a:xfrm>
          <a:prstGeom prst="roundRect">
            <a:avLst>
              <a:gd name="adj" fmla="val 1904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95350" y="417195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b="0"/>
              <a:t>回答它必须排除混淆因素 → </a:t>
            </a:r>
            <a:r>
              <a:rPr b="1">
                <a:solidFill>
                  <a:srgbClr val="0E3F8C"/>
                </a:solidFill>
              </a:rPr>
              <a:t>控制变量：同一说话人、同一麦克风、同一房间，只改变参考音时长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247650" y="47148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00050" y="48101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781050" y="4724400"/>
            <a:ext cx="11163300" cy="400050"/>
          </a:xfrm>
          <a:prstGeom prst="roundRect">
            <a:avLst>
              <a:gd name="adj" fmla="val 19048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95350" y="483870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b="0"/>
              <a:t>把答案</a:t>
            </a:r>
            <a:r>
              <a:rPr b="1"/>
              <a:t>固化进产品</a:t>
            </a:r>
            <a:r>
              <a:rPr b="0"/>
              <a:t>：录音时自动判断</a:t>
            </a:r>
            <a:r>
              <a:rPr b="1"/>
              <a:t>"够不够"</a:t>
            </a:r>
            <a:r>
              <a:rPr b="0"/>
              <a:t>——让用户花得起、敢用、知道什么时候可以停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295275" y="5476875"/>
            <a:ext cx="11696700" cy="561975"/>
          </a:xfrm>
          <a:prstGeom prst="roundRect">
            <a:avLst>
              <a:gd name="adj" fmla="val 1694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295275" y="5476875"/>
            <a:ext cx="11696700" cy="561975"/>
          </a:xfrm>
          <a:custGeom>
            <a:pathLst>
              <a:path w="1228" h="5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4"/>
                </a:lnTo>
                <a:cubicBezTo>
                  <a:pt x="5" y="56"/>
                  <a:pt x="7" y="58"/>
                  <a:pt x="9" y="59"/>
                </a:cubicBezTo>
                <a:cubicBezTo>
                  <a:pt x="4" y="58"/>
                  <a:pt x="0" y="54"/>
                  <a:pt x="0" y="4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28625" y="5610225"/>
            <a:ext cx="113823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b="1">
                <a:solidFill>
                  <a:srgbClr val="0E3F8C"/>
                </a:solidFill>
              </a:rPr>
              <a:t>思路的落点</a:t>
            </a:r>
            <a:r>
              <a:rPr b="0"/>
              <a:t>：交付的不是"一个更像的克隆模型"，而是</a:t>
            </a:r>
            <a:r>
              <a:rPr b="1"/>
              <a:t>一个普通人负担得起、且知道自己什么时候录够了的保存流程</a:t>
            </a:r>
            <a:r>
              <a:rPr b="0"/>
              <a:t>。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5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二、研究方案及技术路线&lt;/Text&gt;&#10;    &lt;Text style={{ fontSize: 15, color: '#C9D8F0' }}&gt;RQ1–RQ3 + 12 × 4 × 4 实验矩阵&lt;/Text&gt;&#10;  &lt;/Box&gt;&#10;  &lt;Box style={{ height: 580, padding: 26, gap: 14 }}&gt;&#10;    &lt;Box style={{ flexDirection: 'row', gap: 12, height: 132 }}&gt;&#10;      &lt;Box style={{ flex: 1, background: '#0E3F8C', borderRadius: 10, padding: 14 }}&gt;&#10;        &lt;Text style={{ fontSize: 16, color: '#FFC107', fontWeight: 'bold' }}&gt;RQ1（主）&lt;/Text&gt;&#10;        &lt;Text style={{ fontSize: 13, color: '#FFFFFF', marginTop: 8, lineHeight: 1.7 }}&gt;参考音时长从 3s 增到 60s，复现质量如何变化？&lt;Text style={{ fontWeight: 'bold' }}&gt;收益在何处饱和？&lt;/Text&gt;&lt;/Text&gt;&#10;      &lt;/Box&gt;&#10;      &lt;Box style={{ flex: 1, background: '#1E4FA8', borderRadius: 10, padding: 14 }}&gt;&#10;        &lt;Text style={{ fontSize: 16, color: '#FFFFFF', fontWeight: 'bold' }}&gt;RQ2&lt;/Text&gt;&#10;        &lt;Text style={{ fontSize: 13, color: '#D8E6F8', marginTop: 8, lineHeight: 1.7 }}&gt;不同文本条件下（同文 / 跨文 / 跨情感 / 长句），同一参考音的复现质量差异有多大？&lt;/Text&gt;&#10;      &lt;/Box&gt;&#10;      &lt;Box style={{ flex: 1, background: '#3D7BD9', borderRadius: 10, padding: 14 }}&gt;&#10;        &lt;Text style={{ fontSize: 16, color: '#FFFFFF', fontWeight: 'bold' }}&gt;RQ3 ★&lt;/Text&gt;&#10;        &lt;Text style={{ fontSize: 13, color: '#FFFFFF', marginTop: 8, lineHeight: 1.7 }}&gt;客观指标与人工主观评分（MOS / ABX）相关性如何？&lt;Text style={{ fontWeight: 'bold' }}&gt;能否用客观指标做自动门禁？&lt;/Text&gt;&lt;/Text&gt;&#10;      &lt;/Box&gt;&#10;    &lt;/Box&gt;&#10;    &lt;Text style={{ fontSize: 18, color: '#0E3F8C', fontWeight: 'bold' }}&gt;实验设计&lt;/Text&gt;&#10;    &lt;Table&#10;      style={{ width: '100%', height: 232 }}&#10;      defaultTextStyle={{ fontSize: 13, textAlign: 'center', color: '#1A2230' }}&#10;      defaultCellStyle={{ border: { left: { width: 1, color: '#D6DCE5' }, right: { width: 1, color: '#D6DCE5' }, top: { width: 1, color: '#D6DCE5' }, bottom: { width: 1, color: '#D6DCE5' } } }}&#10;      cells={[&#10;        [&#10;          { text: '维度', textStyle: { bold: true, color: '#FFFFFF' }, cellStyle: { background: { color: '#1E4FA8' } } },&#10;          { text: '设定', textStyle: { bold: true, color: '#FFFFFF' }, cellStyle: { background: { color: '#1E4FA8' } } },&#10;        ],&#10;        ['被试（说话人）', 'N = 12（师范生，男女各半），安静房间 + 统一麦克风'],&#10;        [&#10;          { text: '自变量：参考音时长', textStyle: { bold: true, color: '#D9534F' }, cellStyle: { background: { color: '#F0F5FC' } } },&#10;          { text: '3s / 10s / 30s / 60s —— 同一批录音按前缀截取，保证说话人/麦克风/房间完全一致', textStyle: { color: '#D9534F', fontWeight: 'bold' }, cellStyle: { background: { color: '#F0F5FC' } } },&#10;        ],&#10;        ['条件：复现文本', '① 同文　② 跨文（日常句）　③ 跨情感（高兴/生气/悲伤）　④ 长句（&gt;30 字）'],&#10;        [&#10;          { text: '客观指标', cellStyle: { background: { color: '#F0F5FC' } } },&#10;          { text: '相似度余弦 / HNR / H1-H2 / 谱倾斜 / jitter / shimmer / ASR 回译 WER', cellStyle: { background: { color: '#F0F5FC' } } },&#10;        ],&#10;        ['主观评测', 'MOS 自然度（5 分制）+ ABX 相似度；盲听、随机化、不显示条件（N = 24）'],&#10;        [&#10;          { text: '对照（文献口径）', cellStyle: { background: { color: '#F0F5FC' } } },&#10;          { text: '传统声音银行 50–200 句方案、云端 1 分钟即时克隆（仅作文献对照，不做实验）', cellStyle: { background: { color: '#F0F5FC' } } },&#10;        ],&#10;      ]}&#10;    /&gt;&#10;    &lt;Box style={{ background: '#FFC107', borderRadius: 10, padding: 14 }}&gt;&#10;      &lt;Text style={{ fontSize: 15, color: '#1A2230', lineHeight: 1.7 }}&gt;&#10;        &lt;Text style={{ fontWeight: 'bold' }}&gt;样本规模：12 人 × 4 档 × 4 条件 = 192 个合成样本 + 24 名听测被试。&lt;/Text&gt;&#10;        ★ 档位定义是&quot;对&lt;Text style={{ fontWeight: 'bold' }}&gt;同一段录音&lt;/Text&gt;按顺序截取前 N 秒&quot;——这决定了&lt;Text style={{ fontWeight: 'bold' }}&gt;必须由同一人在同一条件下一次录制完成&lt;/Text&gt;，&#10;        这也是本项目不能使用公开语料替代的原因。实际录制时每人&lt;Text style={{ fontWeight: 'bold', color: '#D9534F' }}&gt;只需连续朗读约 65 秒&lt;/Text&gt;。&#10;      &lt;/Text&gt;&#10;    &lt;/Box&gt;&#10;  &lt;/Box&gt;&#10;  &lt;Box style={{ height: 60, justifyContent: 'center', paddingLeft: 40 }}&gt;&#10;    &lt;Text style={{ fontSize: 15, color: '#8B97A8' }}&gt;韩山师范学院 · 大学生创新创业训练项目　　10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648075" y="219075"/>
            <a:ext cx="2933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二、研究方案及技术路线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734175" y="295275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 xml:space="preserve">RQ1–RQ3 + 12 × 4 × 4 </a:t>
            </a: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实验矩阵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247650" y="1009650"/>
            <a:ext cx="3819525" cy="1257300"/>
          </a:xfrm>
          <a:prstGeom prst="roundRect">
            <a:avLst>
              <a:gd name="adj" fmla="val 757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81000" y="1143000"/>
            <a:ext cx="3552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C107"/>
                </a:solidFill>
                <a:latin typeface="Microsoft YaHei"/>
                <a:ea typeface="Microsoft YaHei"/>
              </a:rPr>
              <a:t>RQ1</a:t>
            </a:r>
            <a:r>
              <a:rPr lang="zh-CN" sz="1200" b="1">
                <a:solidFill>
                  <a:srgbClr val="FFC107"/>
                </a:solidFill>
                <a:latin typeface="Microsoft YaHei"/>
                <a:ea typeface="Microsoft YaHei"/>
              </a:rPr>
              <a:t>（主）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81000" y="1409700"/>
            <a:ext cx="35528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参考音时长从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3s 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增到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60s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，复现质量如何变化？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收益在何处饱和？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4181475" y="1009650"/>
            <a:ext cx="3829050" cy="1257300"/>
          </a:xfrm>
          <a:prstGeom prst="roundRect">
            <a:avLst>
              <a:gd name="adj" fmla="val 757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314825" y="1143000"/>
            <a:ext cx="3562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RQ2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314825" y="1409700"/>
            <a:ext cx="3562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D8E6F8"/>
                </a:solidFill>
                <a:latin typeface="Microsoft YaHei"/>
                <a:ea typeface="Microsoft YaHei"/>
              </a:rPr>
              <a:t>不同文本条件下（同文</a:t>
            </a:r>
            <a:r>
              <a:rPr lang="en-US" sz="975">
                <a:solidFill>
                  <a:srgbClr val="D8E6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D8E6F8"/>
                </a:solidFill>
                <a:latin typeface="Microsoft YaHei"/>
                <a:ea typeface="Microsoft YaHei"/>
              </a:rPr>
              <a:t>跨文</a:t>
            </a:r>
            <a:r>
              <a:rPr lang="en-US" sz="975">
                <a:solidFill>
                  <a:srgbClr val="D8E6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D8E6F8"/>
                </a:solidFill>
                <a:latin typeface="Microsoft YaHei"/>
                <a:ea typeface="Microsoft YaHei"/>
              </a:rPr>
              <a:t>跨情感</a:t>
            </a:r>
            <a:r>
              <a:rPr lang="en-US" sz="975">
                <a:solidFill>
                  <a:srgbClr val="D8E6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D8E6F8"/>
                </a:solidFill>
                <a:latin typeface="Microsoft YaHei"/>
                <a:ea typeface="Microsoft YaHei"/>
              </a:rPr>
              <a:t>长句），同一参考音的复现质量差异有多大？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8124825" y="1009650"/>
            <a:ext cx="3819525" cy="1257300"/>
          </a:xfrm>
          <a:prstGeom prst="roundRect">
            <a:avLst>
              <a:gd name="adj" fmla="val 7576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258175" y="1143000"/>
            <a:ext cx="3552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RQ3 ★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258175" y="1409700"/>
            <a:ext cx="35528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客观指标与人工主观评分（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MOS / ABX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）相关性如何？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能否用客观指标做自动门禁？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47650" y="2400300"/>
            <a:ext cx="1169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实验设计</a:t>
            </a:r>
            <a:endParaRPr/>
          </a:p>
        </p:txBody>
      </p:sp>
      <p:graphicFrame>
        <p:nvGraphicFramePr>
          <p:cNvPr id="30" name=""/>
          <p:cNvGraphicFramePr/>
          <p:nvPr/>
        </p:nvGraphicFramePr>
        <p:xfrm rot="0" flipH="0" flipV="0">
          <a:off x="247650" y="2743200"/>
          <a:ext cx="11696700" cy="2209800"/>
        </p:xfrm>
        <a:graphic>
          <a:graphicData uri="http://schemas.openxmlformats.org/drawingml/2006/table">
            <a:tbl>
              <a:tblGrid>
                <a:gridCol w="2364743">
                  <a:extLst>
                    <a:ext uri="{9D8B030D-6E8A-4147-A177-3AD203B41FA5}">
                      <a16:colId val="1"/>
                    </a:ext>
                  </a:extLst>
                </a:gridCol>
                <a:gridCol w="9331957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3156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设定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156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被试（说话人）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 = 12（师范生，男女各半），安静房间 + 统一麦克风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156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自变量：参考音时长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3s / 10s / 30s / 60s —— 同一批录音按前缀截取，保证说话人/麦克风/房间完全一致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156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条件：复现文本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① 同文　② 跨文（日常句）　③ 跨情感（高兴/生气/悲伤）　④ 长句（&gt;30 字）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156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客观指标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相似度余弦 / HNR / H1-H2 / 谱倾斜 / jitter / shimmer / ASR 回译 WER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156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主观评测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MOS 自然度（5 分制）+ ABX 相似度；盲听、随机化、不显示条件（N = 24）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156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对照（文献口径）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传统声音银行 50–200 句方案、云端 1 分钟即时克隆（仅作文献对照，不做实验）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31" name=""/>
          <p:cNvSpPr/>
          <p:nvPr/>
        </p:nvSpPr>
        <p:spPr>
          <a:xfrm rot="0" flipH="0" flipV="0">
            <a:off x="247650" y="5086350"/>
            <a:ext cx="11696700" cy="857250"/>
          </a:xfrm>
          <a:prstGeom prst="roundRect">
            <a:avLst>
              <a:gd name="adj" fmla="val 11111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81000" y="5219700"/>
            <a:ext cx="11430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样本规模：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人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× 4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档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× 4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条件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= 192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个合成样本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+ 24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名听测被试。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档位定义是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对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同一段录音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按顺序截取前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"——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这决定了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必须由同一人在同一条件下一次录制完成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这也是本项目不能使用公开语料替代的原因。实际录制时每人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只需连续朗读约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65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二、适用范围或推广前景&lt;/Text&gt;&#10;    &lt;Text style={{ fontSize: 15, color: '#FFC107' }}&gt;★ 官方明列子项&lt;/Text&gt;&#10;  &lt;/Box&gt;&#10;  &lt;Box style={{ height: 580, padding: 20, gap: 10 }}&gt;&#10;    &lt;Box style={{ flexDirection: 'row', gap: 12, flex: 1 }}&gt;&#10;      &lt;Box style={{ flex: 1, background: '#F0F5FC', borderRadius: 12, padding: 16, borderTop: '5px solid #1E4FA8' }}&gt;&#10;        &lt;Text style={{ fontSize: 19, color: '#1E4FA8', fontWeight: 'bold' }}&gt;适用范围&lt;/Text&gt;&#10;        &lt;Text style={{ fontSize: 14, color: '#1A2230', marginTop: 10, lineHeight: 1.8 }}&gt;&#10;          &lt;Text style={{ fontWeight: 'bold', color: '#0E3F8C' }}&gt;① 职业用嗓人群&lt;/Text&gt;{&quot;\n&quot;}教师、师范生、播音主持、客服等的{&quot;\n&quot;}嗓音档案保存 —— 本项目主要研究对象{&quot;\n\n&quot;}&#10;          &lt;Text style={{ fontWeight: 'bold', color: '#0E3F8C' }}&gt;② 嗓音障碍人群&lt;/Text&gt;{&quot;\n&quot;}因疾病或手术可能失去嗓音者的{&quot;\n&quot;}声音保存与辅助沟通{&quot;\n&quot;}&#10;          &lt;Text style={{ fontSize: 12, color: '#D9534F' }}&gt;（属辅助沟通范畴，不涉及任何医疗用途声称）&lt;/Text&gt;{&quot;\n\n&quot;}&#10;          &lt;Text style={{ fontWeight: 'bold', color: '#0E3F8C' }}&gt;③ 教育教学场景&lt;/Text&gt;{&quot;\n&quot;}微课配音、课程音频的本地、离线生产{&quot;\n\n&quot;}&#10;          &lt;Text style={{ fontWeight: 'bold', color: '#0E3F8C' }}&gt;④ 研究场景&lt;/Text&gt;{&quot;\n&quot;}为同类研究提供可复现的评测协议与流水线&#10;        &lt;/Text&gt;&#10;      &lt;/Box&gt;&#10;      &lt;Box style={{ flex: 1, gap: 12 }}&gt;&#10;        &lt;Box style={{ flex: 1, background: '#E8EFF8', borderRadius: 12, padding: 16, borderTop: '5px solid #3D7BD9' }}&gt;&#10;          &lt;Text style={{ fontSize: 19, color: '#1E4FA8', fontWeight: 'bold' }}&gt;推广前景&lt;/Text&gt;&#10;          &lt;Text style={{ fontSize: 14, color: '#1A2230', marginTop: 10, lineHeight: 1.85 }}&gt;&#10;            &lt;Text style={{ fontWeight: 'bold', color: '#0E3F8C' }}&gt;① 开源与插件化&lt;/Text&gt;{&quot;\n&quot;}代码已开源并采用插件化架构，第三方可做二次开发或场景适配{&quot;\n\n&quot;}&#10;            &lt;Text style={{ fontWeight: 'bold', color: '#0E3F8C' }}&gt;② 离线是刚性需求&lt;/Text&gt;{&quot;\n&quot;}在医院、护理机构、航班等无网或弱网环境，云端方案在结构上不可用{&quot;\n\n&quot;}&#10;            &lt;Text style={{ fontWeight: 'bold', color: '#0E3F8C' }}&gt;③ 与师范培养的结合&lt;/Text&gt;{&quot;\n&quot;}师范生嗓音健康建档：学生基数大、需求真实、与专业培养相关&#10;          &lt;/Text&gt;&#10;        &lt;/Box&gt;&#10;        &lt;Box style={{ background: '#FFFFFF', border: '2px solid #D9534F', borderRadius: 12, padding: 14 }}&gt;&#10;          &lt;Text style={{ fontSize: 16, color: '#D9534F', fontWeight: 'bold' }}&gt;边界（诚实声明）&lt;/Text&gt;&#10;          &lt;Text style={{ fontSize: 13, color: '#1A2230', marginTop: 6, lineHeight: 1.75 }}&gt;&#10;            ⚠️ 不承诺任何医疗效果；系统定位为&lt;Text style={{ fontWeight: 'bold' }}&gt;声音的保存与辅助沟通&lt;/Text&gt;，而非治疗{&quot;\n&quot;}&#10;            ⚠️ 当前方案基于消费级 GPU，&lt;Text style={{ fontWeight: 'bold' }}&gt;未验证大规模并发场景&lt;/Text&gt;{&quot;\n&quot;}&#10;            ⚠️ 无障碍方向为&lt;Text style={{ fontWeight: 'bold' }}&gt;在研模块&lt;/Text&gt;，尚未完成产品化验证&#10;          &lt;/Text&gt;&#10;        &lt;/Box&gt;&#10;      &lt;/Box&gt;&#10;    &lt;/Box&gt;&#10;    &lt;Box style={{ background: '#0E3F8C', borderRadius: 10, padding: 10 }}&gt;&#10;      &lt;Text style={{ fontSize: 13, color: '#FFFFFF', lineHeight: 1.55 }}&gt;&#10;        &lt;Text style={{ fontWeight: 'bold', color: '#FFC107' }}&gt;结论的通用价值：&lt;/Text&gt;&#10;        本研究产出的&quot;参考音时长—质量&quot;数据与&quot;客观指标能否替代听测&quot;的结论，对&lt;Text style={{ fontWeight: 'bold' }}&gt;任何使用少样本克隆的下游应用都有参考价值&lt;/Text&gt;。&#10;      &lt;/Text&gt;&#10;    &lt;/Box&gt;&#10;  &lt;/Box&gt;&#10;  &lt;Box style={{ height: 60, justifyContent: 'center', paddingLeft: 40 }}&gt;&#10;    &lt;Text style={{ fontSize: 15, color: '#8B97A8' }}&gt;韩山师范学院 · 大学生创新创业训练项目　　11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238625" y="219075"/>
            <a:ext cx="2933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二、适用范围或推广前景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324725" y="295275"/>
            <a:ext cx="1019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C10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125">
                <a:solidFill>
                  <a:srgbClr val="FFC107"/>
                </a:solidFill>
                <a:latin typeface="Microsoft YaHei"/>
                <a:ea typeface="Microsoft YaHei"/>
              </a:rPr>
              <a:t>官方明列子项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190500" y="1000125"/>
            <a:ext cx="5848350" cy="4705350"/>
          </a:xfrm>
          <a:prstGeom prst="roundRect">
            <a:avLst>
              <a:gd name="adj" fmla="val 242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190500" y="1000125"/>
            <a:ext cx="5848350" cy="4705350"/>
          </a:xfrm>
          <a:custGeom>
            <a:pathLst>
              <a:path w="614" h="494">
                <a:moveTo>
                  <a:pt x="603" y="0"/>
                </a:moveTo>
                <a:cubicBezTo>
                  <a:pt x="608" y="0"/>
                  <a:pt x="613" y="4"/>
                  <a:pt x="614" y="10"/>
                </a:cubicBezTo>
                <a:cubicBezTo>
                  <a:pt x="613" y="7"/>
                  <a:pt x="610" y="5"/>
                  <a:pt x="607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602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342900" y="1152525"/>
            <a:ext cx="5543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适用范围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42900" y="1466850"/>
            <a:ext cx="5543550" cy="40386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职业用嗓人群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教师、师范生、播音主持、客服等的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嗓音档案保存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本项目主要研究对象</a:t>
            </a:r>
            <a:r>
              <a:rPr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
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嗓音障碍人群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因疾病或手术可能失去嗓音者的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声音保存与辅助沟通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（属辅助沟通范畴，不涉及任何医疗用途声称）</a:t>
            </a:r>
            <a:r>
              <a:rPr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
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教育教学场景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微课配音、课程音频的本地、离线生产</a:t>
            </a:r>
            <a:r>
              <a:rPr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
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研究场景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为同类研究提供可复现的评测协议与流水线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153150" y="1000125"/>
            <a:ext cx="5848350" cy="3295650"/>
          </a:xfrm>
          <a:prstGeom prst="roundRect">
            <a:avLst>
              <a:gd name="adj" fmla="val 3468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153150" y="1000125"/>
            <a:ext cx="5848350" cy="3295650"/>
          </a:xfrm>
          <a:custGeom>
            <a:pathLst>
              <a:path w="614" h="346">
                <a:moveTo>
                  <a:pt x="603" y="0"/>
                </a:moveTo>
                <a:cubicBezTo>
                  <a:pt x="608" y="0"/>
                  <a:pt x="613" y="4"/>
                  <a:pt x="614" y="10"/>
                </a:cubicBezTo>
                <a:cubicBezTo>
                  <a:pt x="613" y="7"/>
                  <a:pt x="610" y="5"/>
                  <a:pt x="607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602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305550" y="1152525"/>
            <a:ext cx="5543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推广前景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305550" y="1466850"/>
            <a:ext cx="5543550" cy="237172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开源与插件化</a:t>
            </a:r>
            <a:endParaRPr/>
          </a:p>
          <a:p>
            <a:pPr>
              <a:lnSpc>
                <a:spcPct val="185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代码已开源并采用插件化架构，第三方可做二次开发或场景适配</a:t>
            </a:r>
            <a:r>
              <a:rPr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
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离线是刚性需求</a:t>
            </a:r>
            <a:endParaRPr/>
          </a:p>
          <a:p>
            <a:pPr>
              <a:lnSpc>
                <a:spcPct val="185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在医院、护理机构、航班等无网或弱网环境，云端方案在结构上不可用</a:t>
            </a:r>
            <a:r>
              <a:rPr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
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与师范培养的结合</a:t>
            </a:r>
            <a:endParaRPr/>
          </a:p>
          <a:p>
            <a:pPr>
              <a:lnSpc>
                <a:spcPct val="185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师范生嗓音健康建档：学生基数大、需求真实、与专业培养相关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153150" y="4362450"/>
            <a:ext cx="5848350" cy="1295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286500" y="4495800"/>
            <a:ext cx="558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534F"/>
                </a:solidFill>
                <a:latin typeface="Microsoft YaHei"/>
                <a:ea typeface="Microsoft YaHei"/>
              </a:rPr>
              <a:t>边界（诚实声明）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286500" y="4743450"/>
            <a:ext cx="5581650" cy="781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⚠️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不承诺任何医疗效果；系统定位为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声音的保存与辅助沟通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，而非治疗</a:t>
            </a:r>
            <a:endParaRPr/>
          </a:p>
          <a:p>
            <a:pPr>
              <a:lnSpc>
                <a:spcPct val="175000"/>
              </a:lnSpc>
            </a:pP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⚠️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当前方案基于消费级</a:t>
            </a: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 GPU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未验证大规模并发场景</a:t>
            </a:r>
            <a:endParaRPr/>
          </a:p>
          <a:p>
            <a:pPr>
              <a:lnSpc>
                <a:spcPct val="175000"/>
              </a:lnSpc>
            </a:pPr>
            <a:r>
              <a:rPr lang="en-US" sz="975">
                <a:solidFill>
                  <a:srgbClr val="1A2230"/>
                </a:solidFill>
                <a:latin typeface="Microsoft YaHei"/>
                <a:ea typeface="Microsoft YaHei"/>
              </a:rPr>
              <a:t xml:space="preserve">⚠️ 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无障碍方向为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在研模块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，尚未完成产品化验证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190500" y="5753100"/>
            <a:ext cx="11811000" cy="428625"/>
          </a:xfrm>
          <a:prstGeom prst="roundRect">
            <a:avLst>
              <a:gd name="adj" fmla="val 22222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285750" y="5848350"/>
            <a:ext cx="116205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结论的通用价值：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本研究产出的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参考音时长—质量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数据与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客观指标能否替代听测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的结论，对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任何使用少样本克隆的下游应用都有参考价值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53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三、整体时间安排（自立项到结项）&lt;/Text&gt;&#10;    &lt;Text style={{ fontSize: 15, color: '#C9D8F0' }}&gt;11 个月 · 六阶段&lt;/Text&gt;&#10;  &lt;/Box&gt;&#10;  &lt;Box style={{ height: 580, padding: 26, gap: 14 }}&gt;&#10;    &lt;Table&#10;      style={{ width: '100%', height: 330 }}&#10;      defaultTextStyle={{ fontSize: 13, textAlign: 'center', color: '#1A2230' }}&#10;      defaultCellStyle={{ border: { left: { width: 1, color: '#D6DCE5' }, right: { width: 1, color: '#D6DCE5' }, top: { width: 1, color: '#D6DCE5' }, bottom: { width: 1, color: '#D6DCE5' } } }}&#10;      cells={[&#10;        [&#10;          { text: '阶段', textStyle: { bold: true, color: '#FFFFFF' }, cellStyle: { background: { color: '#1E4FA8' } } },&#10;          { text: '时间', textStyle: { bold: true, color: '#FFFFFF' }, cellStyle: { background: { color: '#1E4FA8' } } },&#10;          { text: '主要任务', textStyle: { bold: true, color: '#FFFFFF' }, cellStyle: { background: { color: '#1E4FA8' } } },&#10;          { text: '阶段交付物', textStyle: { bold: true, color: '#FFFFFF' }, cellStyle: { background: { color: '#1E4FA8' } } },&#10;        ],&#10;        [&#10;          { text: '立项准备', textStyle: { bold: true, color: '#0E3F8C' } },&#10;          { text: '2026.10–11', textStyle: { bold: true } },&#10;          '方案定稿；知情同意书与伦理材料准备；被试招募启动（不等到立项后）',&#10;          '申报书、知情同意书模板、招募方案',&#10;        ],&#10;        [&#10;          { text: '协议与平台', textStyle: { bold: true, color: '#0E3F8C' }, cellStyle: { background: { color: '#F0F5FC' } } },&#10;          { text: '2026.11–12', textStyle: { bold: true }, cellStyle: { background: { color: '#F0F5FC' } } },&#10;          { text: '评测协议定稿；录音 SOP；客观指标流水线复核；听测平台复核', cellStyle: { background: { color: '#F0F5FC' } } },&#10;          { text: '评测协议（定稿）、录音 SOP', cellStyle: { background: { color: '#F0F5FC' } } },&#10;        ],&#10;        [&#10;          { text: '数据采集', textStyle: { bold: true, color: '#0E3F8C' } },&#10;          { text: '2026.12–2027.02', textStyle: { bold: true } },&#10;          '12 名被试录音（一次录制、前缀切 4 档）；录音质量筛查；数据集整理',&#10;          '中文嗓音保存评测语料集（可公开部分）',&#10;        ],&#10;        [&#10;          { text: '客观评测', textStyle: { bold: true, color: '#0E3F8C' }, cellStyle: { background: { color: '#F0F5FC' } } },&#10;          { text: '2027.03–04', textStyle: { bold: true }, cellStyle: { background: { color: '#F0F5FC' } } },&#10;          { text: 'RQ1 / RQ2：192 样本 × 7 指标全量运行；主效应与饱和点分析', cellStyle: { background: { color: '#F0F5FC' } } },&#10;          { text: '客观评测结果与分析报告', cellStyle: { background: { color: '#F0F5FC' } } },&#10;        ],&#10;        [&#10;          { text: '主观评测', textStyle: { bold: true, color: '#0E3F8C' } },&#10;          { text: '2027.05–06', textStyle: { bold: true } },&#10;          'RQ3：24 名听测者 MOS / ABX；客观—主观相关性分析',&#10;          '主观听测报告、相关性结论',&#10;        ],&#10;        [&#10;          { text: '反哺与结项', textStyle: { bold: true, color: '#D9534F' }, cellStyle: { background: { color: '#FFC107' } } },&#10;          { text: '2027.07–09', textStyle: { bold: true }, cellStyle: { background: { color: '#FFC107' } } },&#10;          { text: '自动质量门禁规则固化并反哺系统；论文 / 软著撰写；结题报告', cellStyle: { background: { color: '#FFC107' } } },&#10;          { text: '软著 / 论文 / 结题报告（结项标准三者任一即可）', textStyle: { bold: true }, cellStyle: { background: { color: '#FFC107' } } },&#10;        ],&#10;      ]}&#10;    /&gt;&#10;    &lt;Box style={{ flexDirection: 'row', gap: 14, flex: 1 }}&gt;&#10;      &lt;Box style={{ flex: 1, background: '#E8EFF8', borderRadius: 10, padding: 16, borderLeft: '5px solid #1E4FA8' }}&gt;&#10;        &lt;Text style={{ fontSize: 17, color: '#1E4FA8', fontWeight: 'bold' }}&gt;关键里程碑&lt;/Text&gt;&#10;        &lt;Text style={{ fontSize: 14, color: '#1A2230', marginTop: 8, lineHeight: 1.9 }}&gt;&#10;          · &lt;Text style={{ fontWeight: 'bold' }}&gt;2027.02 底&lt;/Text&gt;：数据集完成 → 项目中期检查节点{&quot;\n&quot;}&#10;          · &lt;Text style={{ fontWeight: 'bold' }}&gt;2027.06 底&lt;/Text&gt;：主观评测完成 → 核心结论产出节点{&quot;\n&quot;}&#10;          · &lt;Text style={{ fontWeight: 'bold' }}&gt;2027.09 底&lt;/Text&gt;：结题材料齐备 → 结项&#10;        &lt;/Text&gt;&#10;      &lt;/Box&gt;&#10;      &lt;Box style={{ flex: 1, background: '#0E3F8C', borderRadius: 10, padding: 16, justifyContent: 'center' }}&gt;&#10;        &lt;Text style={{ fontSize: 17, color: '#FFC107', fontWeight: 'bold' }}&gt;结项标准&lt;/Text&gt;&#10;        &lt;Text style={{ fontSize: 14, color: '#FFFFFF', marginTop: 8, lineHeight: 1.9 }}&gt;&#10;          校级合格标准：&lt;Text style={{ fontWeight: 'bold' }}&gt;软著 / 调研报告 / 论文（前 4 作者）三者任一即可&lt;/Text&gt;。&#10;          本项目&lt;Text style={{ color: '#FFC107', fontWeight: 'bold' }}&gt;具备双保险&lt;/Text&gt;——已有可登记系统，且研究问题明确具备撰写条件。&#10;        &lt;/Text&gt;&#10;      &lt;/Box&gt;&#10;    &lt;/Box&gt;&#10;  &lt;/Box&gt;&#10;  &lt;Box style={{ height: 60, justifyContent: 'center', paddingLeft: 40 }}&gt;&#10;    &lt;Text style={{ fontSize: 15, color: '#8B97A8' }}&gt;韩山师范学院 · 大学生创新创业训练项目　　12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552825" y="219075"/>
            <a:ext cx="426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三、整体时间安排（自立项到结项）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972425" y="2952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个月</a:t>
            </a: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六阶段</a:t>
            </a:r>
            <a:endParaRPr/>
          </a:p>
        </p:txBody>
      </p:sp>
      <p:graphicFrame>
        <p:nvGraphicFramePr>
          <p:cNvPr id="58" name=""/>
          <p:cNvGraphicFramePr/>
          <p:nvPr/>
        </p:nvGraphicFramePr>
        <p:xfrm rot="0" flipH="0" flipV="0">
          <a:off x="247650" y="1009650"/>
          <a:ext cx="11696700" cy="3143250"/>
        </p:xfrm>
        <a:graphic>
          <a:graphicData uri="http://schemas.openxmlformats.org/drawingml/2006/table">
            <a:tbl>
              <a:tblGrid>
                <a:gridCol w="950102">
                  <a:extLst>
                    <a:ext uri="{9D8B030D-6E8A-4147-A177-3AD203B41FA5}">
                      <a16:colId val="1"/>
                    </a:ext>
                  </a:extLst>
                </a:gridCol>
                <a:gridCol w="1535956">
                  <a:extLst>
                    <a:ext uri="{9D8B030D-6E8A-4147-A177-3AD203B41FA5}">
                      <a16:colId val="2"/>
                    </a:ext>
                  </a:extLst>
                </a:gridCol>
                <a:gridCol w="5420422">
                  <a:extLst>
                    <a:ext uri="{9D8B030D-6E8A-4147-A177-3AD203B41FA5}">
                      <a16:colId val="3"/>
                    </a:ext>
                  </a:extLst>
                </a:gridCol>
                <a:gridCol w="379022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主要任务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阶段交付物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立项准备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2026.10–11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方案定稿；知情同意书与伦理材料准备；被试招募启动（不等到立项后）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申报书、知情同意书模板、招募方案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协议与平台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2026.11–12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评测协议定稿；录音 SOP；客观指标流水线复核；听测平台复核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评测协议（定稿）、录音 SOP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数据采集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2026.12–2027.02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12 名被试录音（一次录制、前缀切 4 档）；录音质量筛查；数据集整理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中文嗓音保存评测语料集（可公开部分）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客观评测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2027.03–04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RQ1 / RQ2：192 样本 × 7 指标全量运行；主效应与饱和点分析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客观评测结果与分析报告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主观评测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2027.05–06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RQ3：24 名听测者 MOS / ABX；客观—主观相关性分析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主观听测报告、相关性结论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反哺与结项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10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2027.07–09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10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自动质量门禁规则固化并反哺系统；论文 / 软著撰写；结题报告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10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软著 / 论文 / 结题报告（结项标准三者任一即可）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107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59" name=""/>
          <p:cNvSpPr/>
          <p:nvPr/>
        </p:nvSpPr>
        <p:spPr>
          <a:xfrm rot="0" flipH="0" flipV="0">
            <a:off x="295275" y="4286250"/>
            <a:ext cx="5781675" cy="1752600"/>
          </a:xfrm>
          <a:prstGeom prst="roundRect">
            <a:avLst>
              <a:gd name="adj" fmla="val 543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295275" y="4286250"/>
            <a:ext cx="5781675" cy="1752600"/>
          </a:xfrm>
          <a:custGeom>
            <a:pathLst>
              <a:path w="607" h="18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9"/>
                </a:lnTo>
                <a:cubicBezTo>
                  <a:pt x="5" y="181"/>
                  <a:pt x="7" y="183"/>
                  <a:pt x="9" y="184"/>
                </a:cubicBezTo>
                <a:cubicBezTo>
                  <a:pt x="4" y="183"/>
                  <a:pt x="0" y="179"/>
                  <a:pt x="0" y="1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47675" y="4438650"/>
            <a:ext cx="542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关键里程碑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47675" y="4714875"/>
            <a:ext cx="5429250" cy="9144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2027.02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底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：数据集完成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项目中期检查节点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2027.06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底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：主观评测完成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核心结论产出节点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2027.09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底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：结题材料齐备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结项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162675" y="4286250"/>
            <a:ext cx="5781675" cy="1752600"/>
          </a:xfrm>
          <a:prstGeom prst="roundRect">
            <a:avLst>
              <a:gd name="adj" fmla="val 543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315075" y="4724400"/>
            <a:ext cx="5476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C107"/>
                </a:solidFill>
                <a:latin typeface="Microsoft YaHei"/>
                <a:ea typeface="Microsoft YaHei"/>
              </a:rPr>
              <a:t>结项标准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315075" y="5000625"/>
            <a:ext cx="54768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校级合格标准：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软著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调研报告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论文（前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作者）三者任一即可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本项目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具备双保险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——已有可登记系统，且研究问题明确具备撰写条件。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7" name="" descr="&lt;Slide style={{ padding: 0, background: '#0E3F8C' }}&gt;&#10;  &lt;Box style={{ height: 720, justifyContent: 'center', paddingLeft: 80, paddingRight: 80 }}&gt;&#10;    &lt;Text style={{ fontSize: 120, color: '#3D7BD9', fontWeight: 'bold' }}&gt;04&lt;/Text&gt;&#10;    &lt;Text style={{ fontSize: 46, color: '#FFFFFF', fontWeight: 'bold', marginTop: 4 }}&gt;项目开展情况&lt;/Text&gt;&#10;    &lt;Box style={{ width: 90, height: 5, background: '#FFC107', marginTop: 22 }} /&gt;&#10;    &lt;Text style={{ fontSize: 21, color: '#C9D8F0', marginTop: 24, lineHeight: 1.75 }}&gt;&#10;      对应官方要求第 4 项：项目开展情况（&lt;Text style={{ color: '#FFC107', fontWeight: 'bold' }}&gt;现有结论&lt;/Text&gt;、已有成果、预期成果）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62000" y="2000250"/>
            <a:ext cx="1066800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3D7BD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62000" y="3409950"/>
            <a:ext cx="10668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项目开展情况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762000" y="4152900"/>
            <a:ext cx="85725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62000" y="4429125"/>
            <a:ext cx="10668000" cy="4286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对应官方要求第</a:t>
            </a:r>
            <a:r>
              <a:rPr lang="en-US" sz="1575">
                <a:solidFill>
                  <a:srgbClr val="C9D8F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项：项目开展情况（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现有结论</a:t>
            </a:r>
            <a:r>
              <a:rPr lang="zh-CN" sz="1575">
                <a:solidFill>
                  <a:srgbClr val="C9D8F0"/>
                </a:solidFill>
                <a:latin typeface="Microsoft YaHei"/>
                <a:ea typeface="Microsoft YaHei"/>
              </a:rPr>
              <a:t>、已有成果、预期成果）。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73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四、已有成果（前期基础）&lt;/Text&gt;&#10;    &lt;Text style={{ fontSize: 15, color: '#C9D8F0' }}&gt;项目可行性最直接的证据&lt;/Text&gt;&#10;  &lt;/Box&gt;&#10;  &lt;Box style={{ height: 580, padding: 26, gap: 14 }}&gt;&#10;    &lt;Box style={{ flexDirection: 'row', gap: 14, height: 100 }}&gt;&#10;      &lt;Box style={{ flex: 1, background: '#0E3F8C', borderRadius: 10, padding: 14, justifyContent: 'center' }}&gt;&#10;        &lt;Text style={{ fontSize: 30, color: '#FFC107', fontWeight: 'bold' }}&gt;35,667&lt;/Text&gt;&#10;        &lt;Text style={{ fontSize: 13, color: '#C9D8F0', marginTop: 4 }}&gt;后端 Python 行数&lt;/Text&gt;&#10;      &lt;/Box&gt;&#10;      &lt;Box style={{ flex: 1, background: '#1E4FA8', borderRadius: 10, padding: 14, justifyContent: 'center' }}&gt;&#10;        &lt;Text style={{ fontSize: 30, color: '#FFFFFF', fontWeight: 'bold' }}&gt;36,973&lt;/Text&gt;&#10;        &lt;Text style={{ fontSize: 13, color: '#C9D8F0', marginTop: 4 }}&gt;前端 TS / TSX 行数&lt;/Text&gt;&#10;      &lt;/Box&gt;&#10;      &lt;Box style={{ flex: 1, background: '#3D7BD9', borderRadius: 10, padding: 14, justifyContent: 'center' }}&gt;&#10;        &lt;Text style={{ fontSize: 30, color: '#FFFFFF', fontWeight: 'bold' }}&gt;1,940&lt;/Text&gt;&#10;        &lt;Text style={{ fontSize: 13, color: '#D8E6F8', marginTop: 4 }}&gt;自动化测试用例（102 文件）&lt;/Text&gt;&#10;      &lt;/Box&gt;&#10;      &lt;Box style={{ flex: 1, background: '#FFC107', borderRadius: 10, padding: 14, justifyContent: 'center' }}&gt;&#10;        &lt;Text style={{ fontSize: 30, color: '#1A2230', fontWeight: 'bold' }}&gt;24&lt;/Text&gt;&#10;        &lt;Text style={{ fontSize: 13, color: '#4A5568', marginTop: 4 }}&gt;能力插件（含声音保存插件族）&lt;/Text&gt;&#10;      &lt;/Box&gt;&#10;    &lt;/Box&gt;&#10;    &lt;Text style={{ fontSize: 18, color: '#0E3F8C', fontWeight: 'bold' }}&gt;与本项目直接相关的既有能力&lt;/Text&gt;&#10;    &lt;Table&#10;      style={{ width: '100%', height: 244 }}&#10;      defaultTextStyle={{ fontSize: 14, textAlign: 'center', color: '#1A2230' }}&#10;      defaultCellStyle={{ border: { left: { width: 1, color: '#D6DCE5' }, right: { width: 1, color: '#D6DCE5' }, top: { width: 1, color: '#D6DCE5' }, bottom: { width: 1, color: '#D6DCE5' } } }}&#10;      cells={[&#10;        [&#10;          { text: '能力', textStyle: { bold: true, color: '#FFFFFF' }, cellStyle: { background: { color: '#1E4FA8' } } },&#10;          { text: '实现', textStyle: { bold: true, color: '#FFFFFF' }, cellStyle: { background: { color: '#1E4FA8' } } },&#10;          { text: '规模 / 状态', textStyle: { bold: true, color: '#FFFFFF' }, cellStyle: { background: { color: '#1E4FA8' } } },&#10;        ],&#10;        ['声音档案存储与门禁', 'voicepreserve.py + voicepreserve_api.py', '753 + 289 行'],&#10;        [&#10;          { text: '评测引擎 ★', textStyle: { bold: true, color: '#1E4FA8' }, cellStyle: { background: { color: '#F0F5FC' } } },&#10;          { text: 'voicebank_eval.py', textStyle: { fontWeight: 'bold' }, cellStyle: { background: { color: '#F0F5FC' } } },&#10;          { text: '848 行 + 141 个测试', textStyle: { fontWeight: 'bold' }, cellStyle: { background: { color: '#F0F5FC' } } },&#10;        ],&#10;        ['客观指标计算', 'HNR / H1-H2 / 谱倾斜 / jitter / shimmer', '已实现并测试'],&#10;        [&#10;          { text: '盲听平台', cellStyle: { background: { color: '#F0F5FC' } } },&#10;          { text: '随机化、不显示条件', cellStyle: { background: { color: '#F0F5FC' } } },&#10;          { text: '已实现', cellStyle: { background: { color: '#F0F5FC' } } },&#10;        ],&#10;        ['失败判词', '质量不达标时给出具体原因', '已实现'],&#10;        [&#10;          { text: '实验协议', cellStyle: { background: { color: '#F0F5FC' } } },&#10;          { text: '《嗓音保存评测协议》', cellStyle: { background: { color: '#F0F5FC' } } },&#10;          { text: '已撰写', cellStyle: { background: { color: '#F0F5FC' } } },&#10;        ],&#10;      ]}&#10;    /&gt;&#10;    &lt;Box style={{ background: '#E8EFF8', borderRadius: 10, padding: 14, borderLeft: '5px solid #1E4FA8' }}&gt;&#10;      &lt;Text style={{ fontSize: 14, color: '#1A2230', lineHeight: 1.7 }}&gt;&#10;        &lt;Text style={{ fontWeight: 'bold', color: '#1E4FA8' }}&gt;说明&lt;/Text&gt;：以上为本项目的&lt;Text style={{ fontWeight: 'bold' }}&gt;前期工作积累&lt;/Text&gt;，是项目可行性的直接证据，&#10;        属于项目的前提条件，&lt;Text style={{ fontWeight: 'bold' }}&gt;不是本项目的研究产出&lt;/Text&gt;。&#10;        工程化配套齐全：完整的 CI 门禁、发布流程、插件化架构，代码已在 GitHub 开源。&#10;      &lt;/Text&gt;&#10;    &lt;/Box&gt;&#10;  &lt;/Box&gt;&#10;  &lt;Box style={{ height: 60, justifyContent: 'center', paddingLeft: 40 }}&gt;&#10;    &lt;Text style={{ fontSize: 15, color: '#8B97A8' }}&gt;韩山师范学院 · 大学生创新创业训练项目　　13 / 18　│　注：均标注为本机实测数据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829050" y="219075"/>
            <a:ext cx="3200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四、已有成果（前期基础）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181850" y="29527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项目可行性最直接的证据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247650" y="1009650"/>
            <a:ext cx="2828925" cy="9525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81000" y="1219200"/>
            <a:ext cx="25622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C107"/>
                </a:solidFill>
                <a:latin typeface="Microsoft YaHei"/>
                <a:ea typeface="Microsoft YaHei"/>
              </a:rPr>
              <a:t>37,872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381000" y="1600200"/>
            <a:ext cx="2562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9D8F0"/>
                </a:solidFill>
                <a:latin typeface="Microsoft YaHei"/>
                <a:ea typeface="Microsoft YaHei"/>
              </a:rPr>
              <a:t>后端</a:t>
            </a:r>
            <a:r>
              <a:rPr lang="en-US" sz="9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975">
                <a:solidFill>
                  <a:srgbClr val="C9D8F0"/>
                </a:solidFill>
                <a:latin typeface="Microsoft YaHei"/>
                <a:ea typeface="Microsoft YaHei"/>
              </a:rPr>
              <a:t>行数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3209925" y="1009650"/>
            <a:ext cx="2819400" cy="952500"/>
          </a:xfrm>
          <a:prstGeom prst="roundRect">
            <a:avLst>
              <a:gd name="adj" fmla="val 1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343275" y="1219200"/>
            <a:ext cx="25527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40,169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343275" y="1600200"/>
            <a:ext cx="2552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9D8F0"/>
                </a:solidFill>
                <a:latin typeface="Microsoft YaHei"/>
                <a:ea typeface="Microsoft YaHei"/>
              </a:rPr>
              <a:t>前端</a:t>
            </a:r>
            <a:r>
              <a:rPr lang="en-US" sz="975">
                <a:solidFill>
                  <a:srgbClr val="C9D8F0"/>
                </a:solidFill>
                <a:latin typeface="Microsoft YaHei"/>
                <a:ea typeface="Microsoft YaHei"/>
              </a:rPr>
              <a:t xml:space="preserve"> TS / TSX </a:t>
            </a:r>
            <a:r>
              <a:rPr lang="zh-CN" sz="975">
                <a:solidFill>
                  <a:srgbClr val="C9D8F0"/>
                </a:solidFill>
                <a:latin typeface="Microsoft YaHei"/>
                <a:ea typeface="Microsoft YaHei"/>
              </a:rPr>
              <a:t>行数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162675" y="1009650"/>
            <a:ext cx="2828925" cy="952500"/>
          </a:xfrm>
          <a:prstGeom prst="roundRect">
            <a:avLst>
              <a:gd name="adj" fmla="val 1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296025" y="1219200"/>
            <a:ext cx="25622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2,847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296025" y="1600200"/>
            <a:ext cx="2562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8E6F8"/>
                </a:solidFill>
                <a:latin typeface="Microsoft YaHei"/>
                <a:ea typeface="Microsoft YaHei"/>
              </a:rPr>
              <a:t>自动化测试用例（</a:t>
            </a:r>
            <a:r>
              <a:rPr lang="en-US" sz="975">
                <a:solidFill>
                  <a:srgbClr val="D8E6F8"/>
                </a:solidFill>
                <a:latin typeface="Microsoft YaHei"/>
                <a:ea typeface="Microsoft YaHei"/>
              </a:rPr>
              <a:t xml:space="preserve">149 </a:t>
            </a:r>
            <a:r>
              <a:rPr lang="zh-CN" sz="975">
                <a:solidFill>
                  <a:srgbClr val="D8E6F8"/>
                </a:solidFill>
                <a:latin typeface="Microsoft YaHei"/>
                <a:ea typeface="Microsoft YaHei"/>
              </a:rPr>
              <a:t>文件）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9124950" y="1009650"/>
            <a:ext cx="2819400" cy="952500"/>
          </a:xfrm>
          <a:prstGeom prst="roundRect">
            <a:avLst>
              <a:gd name="adj" fmla="val 1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258300" y="1219200"/>
            <a:ext cx="25527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A2230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258300" y="1600200"/>
            <a:ext cx="2552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能力插件（含声音保存插件族）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247650" y="2095500"/>
            <a:ext cx="1169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与本项目直接相关的既有能力</a:t>
            </a:r>
            <a:endParaRPr/>
          </a:p>
        </p:txBody>
      </p:sp>
      <p:graphicFrame>
        <p:nvGraphicFramePr>
          <p:cNvPr id="91" name=""/>
          <p:cNvGraphicFramePr/>
          <p:nvPr/>
        </p:nvGraphicFramePr>
        <p:xfrm rot="0" flipH="0" flipV="0">
          <a:off x="247650" y="2438400"/>
          <a:ext cx="11696700" cy="2324100"/>
        </p:xfrm>
        <a:graphic>
          <a:graphicData uri="http://schemas.openxmlformats.org/drawingml/2006/table">
            <a:tbl>
              <a:tblGrid>
                <a:gridCol w="2843443">
                  <a:extLst>
                    <a:ext uri="{9D8B030D-6E8A-4147-A177-3AD203B41FA5}">
                      <a16:colId val="1"/>
                    </a:ext>
                  </a:extLst>
                </a:gridCol>
                <a:gridCol w="5863029">
                  <a:extLst>
                    <a:ext uri="{9D8B030D-6E8A-4147-A177-3AD203B41FA5}">
                      <a16:colId val="2"/>
                    </a:ext>
                  </a:extLst>
                </a:gridCol>
                <a:gridCol w="2990228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320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能力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规模 / 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320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声音档案存储与门禁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voicepreserve.py + voicepreserve_api.py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1187 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320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评测引擎 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voicebank_eval.py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1559 行 + 99 个测试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320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客观指标计算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HNR / H1-H2 / 谱倾斜 / jitter / shimmer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已实现并测试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320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盲听平台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随机化、不显示条件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320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失败判词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质量不达标时给出具体原因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320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实验协议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《嗓音保存评测协议》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已撰写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92" name=""/>
          <p:cNvSpPr/>
          <p:nvPr/>
        </p:nvSpPr>
        <p:spPr>
          <a:xfrm rot="0" flipH="0" flipV="0">
            <a:off x="295275" y="4895850"/>
            <a:ext cx="11696700" cy="819150"/>
          </a:xfrm>
          <a:prstGeom prst="roundRect">
            <a:avLst>
              <a:gd name="adj" fmla="val 11628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295275" y="4895850"/>
            <a:ext cx="11696700" cy="819150"/>
          </a:xfrm>
          <a:custGeom>
            <a:pathLst>
              <a:path w="1228" h="8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81"/>
                </a:lnTo>
                <a:cubicBezTo>
                  <a:pt x="5" y="83"/>
                  <a:pt x="7" y="85"/>
                  <a:pt x="9" y="86"/>
                </a:cubicBezTo>
                <a:cubicBezTo>
                  <a:pt x="4" y="85"/>
                  <a:pt x="0" y="81"/>
                  <a:pt x="0" y="7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28625" y="5029200"/>
            <a:ext cx="11382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说明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：以上为本项目的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前期工作积累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，是项目可行性的直接证据，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属于项目的前提条件，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不是本项目的研究产出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工程化配套齐全：完整的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CI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门禁、发布流程、插件化架构，代码已在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GitHub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开源。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13 / 18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　│　注：均标注为本机实测数据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96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四、现有结论&lt;/Text&gt;&#10;    &lt;Text style={{ fontSize: 15, color: '#FFC107' }}&gt;★ 官方明列子项 · 与&quot;已有成果&quot;严格区分&lt;/Text&gt;&#10;  &lt;/Box&gt;&#10;  &lt;Box style={{ height: 580, padding: 26, gap: 14 }}&gt;&#10;    &lt;Box style={{ background: '#F0F5FC', borderRadius: 10, padding: 14, borderLeft: '5px solid #1E4FA8' }}&gt;&#10;      &lt;Text style={{ fontSize: 15, color: '#1A2230', lineHeight: 1.7 }}&gt;&#10;        &lt;Text style={{ fontWeight: 'bold', color: '#D9534F' }}&gt;区分：&lt;/Text&gt;&#10;        「已有成果」= 我们&lt;Text style={{ fontWeight: 'bold' }}&gt;做出来了什么&lt;/Text&gt;；「现有结论」= 我们&lt;Text style={{ fontWeight: 'bold' }}&gt;从中学到了什么&lt;/Text&gt;。以下每条标注证据强度。&#10;      &lt;/Text&gt;&#10;    &lt;/Box&gt;&#10;    &lt;Table&#10;      style={{ width: '100%', height: 200 }}&#10;      defaultTextStyle={{ fontSize: 13, textAlign: 'center', color: '#1A2230' }}&#10;      defaultCellStyle={{ border: { left: { width: 1, color: '#D6DCE5' }, right: { width: 1, color: '#D6DCE5' }, top: { width: 1, color: '#D6DCE5' }, bottom: { width: 1, color: '#D6DCE5' } } }}&#10;      cells={[&#10;        [&#10;          { text: '#', textStyle: { bold: true, color: '#FFFFFF' }, cellStyle: { background: { color: '#1E4FA8' } } },&#10;          { text: '已有结论', textStyle: { bold: true, color: '#FFFFFF' }, cellStyle: { background: { color: '#1E4FA8' } } },&#10;          { text: '证据', textStyle: { bold: true, color: '#FFFFFF' }, cellStyle: { background: { color: '#1E4FA8' } } },&#10;          { text: '强度', textStyle: { bold: true, color: '#FFFFFF' }, cellStyle: { background: { color: '#1E4FA8' } } },&#10;        ],&#10;        [&#10;          '1',&#10;          { text: '秒级小样本克隆在消费级 GPU 上工程可行', textStyle: { textAlign: 'left' } },&#10;          { text: '本机 RTX 5060 实测，端到端 p50 ≈ 50 ms', textStyle: { textAlign: 'left' } },&#10;          { text: '✅ 已核实', textStyle: { color: '#1E4FA8', fontWeight: 'bold' } },&#10;        ],&#10;        [&#10;          { text: '2', cellStyle: { background: { color: '#F0F5FC' } } },&#10;          { text: '客观指标流水线可批量、稳定运行（16 样本 × 7 指标 0 失败）', textStyle: { textAlign: 'left' }, cellStyle: { background: { color: '#F0F5FC' } } },&#10;          { text: '链路验证运行', textStyle: { textAlign: 'left' }, cellStyle: { background: { color: '#F0F5FC' } } },&#10;          { text: '⚠️ 仅证明链路可用，数值不作数', textStyle: { color: '#D9534F', fontWeight: 'bold' }, cellStyle: { background: { color: '#F0F5FC' } } },&#10;        ],&#10;        [&#10;          '3',&#10;          { text: '长文本 → 整段音频的合成链路可用', textStyle: { textAlign: 'left' } },&#10;          { text: '91 句零失败，RTF 0.53', textStyle: { textAlign: 'left' } },&#10;          { text: '✅ 已核实', textStyle: { color: '#1E4FA8', fontWeight: 'bold' } },&#10;        ],&#10;        [&#10;          { text: '4', cellStyle: { background: { color: '#F0F5FC' } } },&#10;          { text: '声音保存的业务流程可闭环（录音→建档→复现→门禁判定）', textStyle: { textAlign: 'left' }, cellStyle: { background: { color: '#F0F5FC' } } },&#10;          { text: '声音保存插件已落地并测试', textStyle: { textAlign: 'left' }, cellStyle: { background: { color: '#F0F5FC' } } },&#10;          { text: '✅ 已核实', textStyle: { color: '#1E4FA8', fontWeight: 'bold' }, cellStyle: { background: { color: '#F0F5FC' } } },&#10;        ],&#10;      ]}&#10;    /&gt;&#10;    &lt;Box style={{ background: '#0E3F8C', borderRadius: 10, padding: 16 }}&gt;&#10;      &lt;Text style={{ fontSize: 17, color: '#FFC107', fontWeight: 'bold' }}&gt;★ 尚待回答的关键问题 —— 即本项目的研究内容&lt;/Text&gt;&#10;      &lt;Text style={{ fontSize: 14, color: '#FFFFFF', marginTop: 10, lineHeight: 1.9 }}&gt;&#10;        ① &lt;Text style={{ fontWeight: 'bold' }}&gt;参考音时长与复现质量的定量关系（RQ1）&lt;/Text&gt; —— &lt;Text style={{ color: '#FFC107' }}&gt;尚无数据，这是本项目的核心&lt;/Text&gt;{&quot;\n&quot;}&#10;        ② &lt;Text style={{ fontWeight: 'bold' }}&gt;不同文本条件下的质量差异（RQ2）&lt;/Text&gt; —— 尚无数据{&quot;\n&quot;}&#10;        ③ &lt;Text style={{ fontWeight: 'bold' }}&gt;客观指标与主观听感的相关性（RQ3）&lt;/Text&gt; —— 尚无数据，直接决定自动门禁是否可信{&quot;\n&quot;}&#10;        ④ &lt;Text style={{ fontWeight: 'bold' }}&gt;收益饱和点对应的最小可接受录制时长&lt;/Text&gt; —— 尚无数据&#10;      &lt;/Text&gt;&#10;    &lt;/Box&gt;&#10;    &lt;Box style={{ background: '#E8EFF8', borderRadius: 10, padding: 14, borderLeft: '5px solid #D9534F' }}&gt;&#10;      &lt;Text style={{ fontSize: 14, color: '#1A2230', lineHeight: 1.7 }}&gt;&#10;        &lt;Text style={{ fontWeight: 'bold', color: '#D9534F' }}&gt;我们主动说明：&lt;/Text&gt;现有结论主要来自&lt;Text style={{ fontWeight: 'bold' }}&gt;工程链路验证&lt;/Text&gt;，&#10;        &lt;Text style={{ fontWeight: 'bold' }}&gt;尚未获得任何来自正式实验的质量数据&lt;/Text&gt;。&#10;        这既是本项目的立项理由，也是我们对研究边界保持清醒的体现。&#10;      &lt;/Text&gt;&#10;    &lt;/Box&gt;&#10;  &lt;/Box&gt;&#10;  &lt;Box style={{ height: 60, justifyContent: 'center', paddingLeft: 40 }}&gt;&#10;    &lt;Text style={{ fontSize: 15, color: '#8B97A8' }}&gt;韩山师范学院 · 大学生创新创业训练项目　　1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133850" y="219075"/>
            <a:ext cx="1600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四、现有结论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886450" y="295275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C10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125">
                <a:solidFill>
                  <a:srgbClr val="FFC107"/>
                </a:solidFill>
                <a:latin typeface="Microsoft YaHei"/>
                <a:ea typeface="Microsoft YaHei"/>
              </a:rPr>
              <a:t>官方明列子项</a:t>
            </a:r>
            <a:r>
              <a:rPr lang="en-US" sz="1125">
                <a:solidFill>
                  <a:srgbClr val="FFC10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FC107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FFC107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FC107"/>
                </a:solidFill>
                <a:latin typeface="Microsoft YaHei"/>
                <a:ea typeface="Microsoft YaHei"/>
              </a:rPr>
              <a:t>已有成果</a:t>
            </a:r>
            <a:r>
              <a:rPr lang="en-US" sz="1125">
                <a:solidFill>
                  <a:srgbClr val="FFC107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FC107"/>
                </a:solidFill>
                <a:latin typeface="Microsoft YaHei"/>
                <a:ea typeface="Microsoft YaHei"/>
              </a:rPr>
              <a:t>严格区分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295275" y="1009650"/>
            <a:ext cx="11696700" cy="561975"/>
          </a:xfrm>
          <a:prstGeom prst="roundRect">
            <a:avLst>
              <a:gd name="adj" fmla="val 1694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295275" y="1009650"/>
            <a:ext cx="11696700" cy="561975"/>
          </a:xfrm>
          <a:custGeom>
            <a:pathLst>
              <a:path w="1228" h="5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4"/>
                </a:lnTo>
                <a:cubicBezTo>
                  <a:pt x="5" y="56"/>
                  <a:pt x="7" y="58"/>
                  <a:pt x="9" y="59"/>
                </a:cubicBezTo>
                <a:cubicBezTo>
                  <a:pt x="4" y="58"/>
                  <a:pt x="0" y="54"/>
                  <a:pt x="0" y="4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28625" y="1143000"/>
            <a:ext cx="113823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区分：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「已有成果」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=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我们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做出来了什么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；「现有结论」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=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我们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从中学到了什么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。以下每条标注证据强度。</a:t>
            </a:r>
            <a:endParaRPr/>
          </a:p>
        </p:txBody>
      </p:sp>
      <p:graphicFrame>
        <p:nvGraphicFramePr>
          <p:cNvPr id="104" name=""/>
          <p:cNvGraphicFramePr/>
          <p:nvPr/>
        </p:nvGraphicFramePr>
        <p:xfrm rot="0" flipH="0" flipV="0">
          <a:off x="247650" y="1704975"/>
          <a:ext cx="11696700" cy="1905000"/>
        </p:xfrm>
        <a:graphic>
          <a:graphicData uri="http://schemas.openxmlformats.org/drawingml/2006/table">
            <a:tbl>
              <a:tblGrid>
                <a:gridCol w="254633">
                  <a:extLst>
                    <a:ext uri="{9D8B030D-6E8A-4147-A177-3AD203B41FA5}">
                      <a16:colId val="1"/>
                    </a:ext>
                  </a:extLst>
                </a:gridCol>
                <a:gridCol w="5100878">
                  <a:extLst>
                    <a:ext uri="{9D8B030D-6E8A-4147-A177-3AD203B41FA5}">
                      <a16:colId val="2"/>
                    </a:ext>
                  </a:extLst>
                </a:gridCol>
                <a:gridCol w="3594983">
                  <a:extLst>
                    <a:ext uri="{9D8B030D-6E8A-4147-A177-3AD203B41FA5}">
                      <a16:colId val="3"/>
                    </a:ext>
                  </a:extLst>
                </a:gridCol>
                <a:gridCol w="2746206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已有结论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证据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强度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秒级小样本克隆在消费级 GPU 上工程可行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本机 RTX 5060 实测，端到端 p50 ≈ 300 ms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✅ 已核实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客观指标流水线可批量、稳定运行（16 样本 × 7 指标 0 失败）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链路验证运行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⚠️ 仅证明链路可用，数值不作数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长文本 → 整段音频的合成链路可用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91 句零失败，RTF 0.53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✅ 已核实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声音保存的业务流程可闭环（录音→建档→复现→门禁判定）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声音保存插件已落地并测试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✅ 已核实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05" name=""/>
          <p:cNvSpPr/>
          <p:nvPr/>
        </p:nvSpPr>
        <p:spPr>
          <a:xfrm rot="0" flipH="0" flipV="0">
            <a:off x="247650" y="3743325"/>
            <a:ext cx="11696700" cy="1819275"/>
          </a:xfrm>
          <a:prstGeom prst="roundRect">
            <a:avLst>
              <a:gd name="adj" fmla="val 523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00050" y="3895725"/>
            <a:ext cx="11391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75" b="1">
                <a:solidFill>
                  <a:srgbClr val="FFC107"/>
                </a:solidFill>
                <a:latin typeface="Microsoft YaHei"/>
                <a:ea typeface="Microsoft YaHei"/>
              </a:rPr>
              <a:t>尚待回答的关键问题</a:t>
            </a:r>
            <a:r>
              <a:rPr lang="en-US" sz="1275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 b="1">
                <a:solidFill>
                  <a:srgbClr val="FFC107"/>
                </a:solidFill>
                <a:latin typeface="Microsoft YaHei"/>
                <a:ea typeface="Microsoft YaHei"/>
              </a:rPr>
              <a:t>即本项目的研究内容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00050" y="4191000"/>
            <a:ext cx="11391900" cy="12192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参考音时长与复现质量的定量关系（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RQ1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尚无数据，这是本项目的核心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不同文本条件下的质量差异（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RQ2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尚无数据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客观指标与主观听感的相关性（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RQ3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尚无数据，直接决定自动门禁是否可信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收益饱和点对应的最小可接受录制时长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尚无数据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295275" y="5695950"/>
            <a:ext cx="11696700" cy="542925"/>
          </a:xfrm>
          <a:prstGeom prst="roundRect">
            <a:avLst>
              <a:gd name="adj" fmla="val 17544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295275" y="5695950"/>
            <a:ext cx="11696700" cy="542925"/>
          </a:xfrm>
          <a:custGeom>
            <a:pathLst>
              <a:path w="1228" h="5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2"/>
                </a:lnTo>
                <a:cubicBezTo>
                  <a:pt x="5" y="54"/>
                  <a:pt x="7" y="56"/>
                  <a:pt x="9" y="57"/>
                </a:cubicBezTo>
                <a:cubicBezTo>
                  <a:pt x="4" y="56"/>
                  <a:pt x="0" y="52"/>
                  <a:pt x="0" y="4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28625" y="5829300"/>
            <a:ext cx="1138237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我们主动说明：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现有结论主要来自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工程链路验证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尚未获得任何来自正式实验的质量数据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这既是本项目的立项理由，也是我们对研究边界保持清醒的体现。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12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四、预期成果&lt;/Text&gt;&#10;    &lt;Text style={{ fontSize: 15, color: '#C9D8F0' }}&gt;结项交付什么 · 三层产出&lt;/Text&gt;&#10;  &lt;/Box&gt;&#10;  &lt;Box style={{ height: 580, padding: 26, gap: 14 }}&gt;&#10;    &lt;Box style={{ flexDirection: 'row', gap: 14, flex: 1 }}&gt;&#10;      &lt;Box style={{ flex: 1, background: '#0E3F8C', borderRadius: 12, padding: 18 }}&gt;&#10;        &lt;Text style={{ fontSize: 20, color: '#FFC107', fontWeight: 'bold' }}&gt;研究层（核心）&lt;/Text&gt;&#10;        &lt;Text style={{ fontSize: 14, color: '#FFFFFF', marginTop: 12, lineHeight: 1.95 }}&gt;&#10;          · &lt;Text style={{ fontWeight: 'bold' }}&gt;系统性实验数据&lt;/Text&gt;{&quot;\n&quot;}　12 名被试 × 4 档参考音 × 4 种文本条件的客观评测结果{&quot;\n\n&quot;}&#10;          · &lt;Text style={{ fontWeight: 'bold' }}&gt;主观评测结论&lt;/Text&gt;{&quot;\n&quot;}　24 名听测者的 MOS / ABX 结果，及客观—主观相关性分析{&quot;\n\n&quot;}&#10;          · &lt;Text style={{ fontWeight: 'bold' }}&gt;方法学结论&lt;/Text&gt;{&quot;\n&quot;}　客观指标能否替代人工听测的实证答案 + 自动质量门禁规则与一致率{&quot;\n\n&quot;}&#10;          · &lt;Text style={{ fontWeight: 'bold' }}&gt;论文 1 篇&lt;/Text&gt;（或校级结题研究报告）&#10;        &lt;/Text&gt;&#10;      &lt;/Box&gt;&#10;      &lt;Box style={{ flex: 1, gap: 14 }}&gt;&#10;        &lt;Box style={{ flex: 1, background: '#E8EFF8', borderRadius: 12, padding: 18, borderLeft: '5px solid #1E4FA8' }}&gt;&#10;          &lt;Text style={{ fontSize: 20, color: '#1E4FA8', fontWeight: 'bold' }}&gt;产品层&lt;/Text&gt;&#10;          &lt;Text style={{ fontSize: 14, color: '#1A2230', marginTop: 12, lineHeight: 1.95 }}&gt;&#10;            · 一套&lt;Text style={{ fontWeight: 'bold' }}&gt;自动质量门禁&lt;/Text&gt;功能升级（反哺现有系统）{&quot;\n&quot;}&#10;            · &lt;Text style={{ fontWeight: 'bold' }}&gt;中文嗓音保存评测语料集&lt;/Text&gt;（可公开部分，含录制协议与知情同意流程）{&quot;\n&quot;}&#10;            · 完整的&lt;Text style={{ fontWeight: 'bold' }}&gt;评测协议与流水线文档&lt;/Text&gt;（可复现）&#10;          &lt;/Text&gt;&#10;        &lt;/Box&gt;&#10;        &lt;Box style={{ flex: 1, background: '#F0F5FC', borderRadius: 12, padding: 18, borderLeft: '5px solid #3D7BD9' }}&gt;&#10;          &lt;Text style={{ fontSize: 20, color: '#1E4FA8', fontWeight: 'bold' }}&gt;合规层&lt;/Text&gt;&#10;          &lt;Text style={{ fontSize: 14, color: '#1A2230', marginTop: 12, lineHeight: 1.95 }}&gt;&#10;            · 知情同意流程与&lt;Text style={{ fontWeight: 'bold' }}&gt;本地克隆审计日志&lt;/Text&gt;（只追加：谁、何时、对谁的档案做了什么）{&quot;\n&quot;}&#10;            · 音频内容的&lt;Text style={{ fontWeight: 'bold' }}&gt;合规标识机制&lt;/Text&gt;{&quot;\n&quot;}&#10;            · 约束：&quot;仅克隆本人或已授权声音&quot;——把伦理做成&lt;Text style={{ fontWeight: 'bold', color: '#1E4FA8' }}&gt;设计约束&lt;/Text&gt;，而不是口号&#10;          &lt;/Text&gt;&#10;        &lt;/Box&gt;&#10;      &lt;/Box&gt;&#10;    &lt;/Box&gt;&#10;    &lt;Box style={{ background: '#FFC107', borderRadius: 10, padding: 16 }}&gt;&#10;      &lt;Text style={{ fontSize: 16, color: '#1A2230', lineHeight: 1.75 }}&gt;&#10;        &lt;Text style={{ fontWeight: 'bold' }}&gt;结项达标路径（三选一）：&lt;/Text&gt;&#10;        校级合格标准为&lt;Text style={{ fontWeight: 'bold' }}&gt;软著 / 调研报告 / 论文（前 4 作者）三者任一&lt;/Text&gt;——&#10;        本项目&lt;Text style={{ fontWeight: 'bold', color: '#D9534F' }}&gt;已有可登记的系统与评测引擎，具备双保险&lt;/Text&gt;。&#10;        成果发表时学生为第一作者，并标注&quot;大学生创新创业训练计划资助 + 项目编号&quot;。&#10;      &lt;/Text&gt;&#10;    &lt;/Box&gt;&#10;  &lt;/Box&gt;&#10;  &lt;Box style={{ height: 60, justifyContent: 'center', paddingLeft: 40 }}&gt;&#10;    &lt;Text style={{ fontSize: 15, color: '#8B97A8' }}&gt;韩山师范学院 · 大学生创新创业训练项目　　1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638675" y="219075"/>
            <a:ext cx="1600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四、预期成果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391275" y="295275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结项交付什么</a:t>
            </a: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三层产出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247650" y="1009650"/>
            <a:ext cx="5781675" cy="3943350"/>
          </a:xfrm>
          <a:prstGeom prst="roundRect">
            <a:avLst>
              <a:gd name="adj" fmla="val 289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19100" y="1181100"/>
            <a:ext cx="5438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C107"/>
                </a:solidFill>
                <a:latin typeface="Microsoft YaHei"/>
                <a:ea typeface="Microsoft YaHei"/>
              </a:rPr>
              <a:t>研究层（核心）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19100" y="1524000"/>
            <a:ext cx="5438775" cy="3124200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系统性实验数据</a:t>
            </a:r>
            <a:endParaRPr/>
          </a:p>
          <a:p>
            <a:pPr>
              <a:lnSpc>
                <a:spcPct val="195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名被试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× 4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档参考音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× 4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种文本条件的客观评测结果</a:t>
            </a:r>
            <a:r>
              <a:rPr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
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主观评测结论</a:t>
            </a:r>
            <a:endParaRPr/>
          </a:p>
          <a:p>
            <a:pPr>
              <a:lnSpc>
                <a:spcPct val="195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名听测者的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MOS / ABX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结果，及客观—主观相关性分析</a:t>
            </a:r>
            <a:r>
              <a:rPr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
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方法学结论</a:t>
            </a:r>
            <a:endParaRPr/>
          </a:p>
          <a:p>
            <a:pPr>
              <a:lnSpc>
                <a:spcPct val="195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　客观指标能否替代人工听测的实证答案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自动质量门禁规则与一致率</a:t>
            </a:r>
            <a:r>
              <a:rPr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
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论文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篇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（或校级结题研究报告）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210300" y="1009650"/>
            <a:ext cx="5781675" cy="190500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210300" y="1009650"/>
            <a:ext cx="5781675" cy="1905000"/>
          </a:xfrm>
          <a:custGeom>
            <a:pathLst>
              <a:path w="607" h="200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193"/>
                </a:lnTo>
                <a:cubicBezTo>
                  <a:pt x="5" y="196"/>
                  <a:pt x="7" y="199"/>
                  <a:pt x="10" y="200"/>
                </a:cubicBezTo>
                <a:cubicBezTo>
                  <a:pt x="4" y="199"/>
                  <a:pt x="0" y="194"/>
                  <a:pt x="0" y="18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381750" y="1181100"/>
            <a:ext cx="5391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产品层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381750" y="1524000"/>
            <a:ext cx="5391150" cy="9429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一套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自动质量门禁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功能升级（反哺现有系统）</a:t>
            </a:r>
            <a:endParaRPr/>
          </a:p>
          <a:p>
            <a:pPr>
              <a:lnSpc>
                <a:spcPct val="19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中文嗓音保存评测语料集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（可公开部分，含录制协议与知情同意流程）</a:t>
            </a:r>
            <a:endParaRPr/>
          </a:p>
          <a:p>
            <a:pPr>
              <a:lnSpc>
                <a:spcPct val="19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完整的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评测协议与流水线文档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（可复现）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210300" y="3048000"/>
            <a:ext cx="5781675" cy="19050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210300" y="3048000"/>
            <a:ext cx="5781675" cy="1905000"/>
          </a:xfrm>
          <a:custGeom>
            <a:pathLst>
              <a:path w="607" h="200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193"/>
                </a:lnTo>
                <a:cubicBezTo>
                  <a:pt x="5" y="196"/>
                  <a:pt x="7" y="199"/>
                  <a:pt x="10" y="200"/>
                </a:cubicBezTo>
                <a:cubicBezTo>
                  <a:pt x="4" y="199"/>
                  <a:pt x="0" y="194"/>
                  <a:pt x="0" y="18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381750" y="3219450"/>
            <a:ext cx="5391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合规层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381750" y="3562350"/>
            <a:ext cx="5391150" cy="9429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知情同意流程与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本地克隆审计日志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（只追加：谁、何时、对谁的档案做了什么）</a:t>
            </a:r>
            <a:endParaRPr/>
          </a:p>
          <a:p>
            <a:pPr>
              <a:lnSpc>
                <a:spcPct val="19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音频内容的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合规标识机制</a:t>
            </a:r>
            <a:endParaRPr/>
          </a:p>
          <a:p>
            <a:pPr>
              <a:lnSpc>
                <a:spcPct val="19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约束：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仅克隆本人或已授权声音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"——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把伦理做成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设计约束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，而不是口号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247650" y="5086350"/>
            <a:ext cx="11696700" cy="952500"/>
          </a:xfrm>
          <a:prstGeom prst="roundRect">
            <a:avLst>
              <a:gd name="adj" fmla="val 1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00050" y="5238750"/>
            <a:ext cx="113919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结项达标路径（三选一）：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校级合格标准为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软著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调研报告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论文（前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作者）三者任一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——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本项目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已有可登记的系统与评测引擎，具备双保险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成果发表时学生为第一作者，并标注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大学生创新创业训练计划资助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项目编号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31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五、项目预算&lt;/Text&gt;&#10;    &lt;Text style={{ fontSize: 15, color: '#C9D8F0' }}&gt;官方要求第 5 项 · 聚焦必要支出&lt;/Text&gt;&#10;  &lt;/Box&gt;&#10;  &lt;Box style={{ height: 580, padding: 26, gap: 14 }}&gt;&#10;    &lt;Table&#10;      style={{ width: '100%', height: 340 }}&#10;      defaultTextStyle={{ fontSize: 14, textAlign: 'center', color: '#1A2230' }}&#10;      defaultCellStyle={{ border: { left: { width: 1, color: '#D6DCE5' }, right: { width: 1, color: '#D6DCE5' }, top: { width: 1, color: '#D6DCE5' }, bottom: { width: 1, color: '#D6DCE5' } } }}&#10;      cells={[&#10;        [&#10;          { text: '#', textStyle: { bold: true, color: '#FFFFFF' }, cellStyle: { background: { color: '#1E4FA8' } } },&#10;          { text: '支出科目', textStyle: { bold: true, color: '#FFFFFF' }, cellStyle: { background: { color: '#1E4FA8' } } },&#10;          { text: '用途说明', textStyle: { bold: true, color: '#FFFFFF' }, cellStyle: { background: { color: '#1E4FA8' } } },&#10;          { text: '金额（元）', textStyle: { bold: true, color: '#FFFFFF' }, cellStyle: { background: { color: '#1E4FA8' } } },&#10;        ],&#10;        ['1', { text: '被试劳务费 ★', textStyle: { bold: true, color: '#1E4FA8' } }, { text: '12 名录音被试 + 24 名听测被试的误工补贴', textStyle: { textAlign: 'left' } }, '＿＿'],&#10;        [&#10;          { text: '2', cellStyle: { background: { color: '#F0F5FC' } } },&#10;          { text: '实验耗材', cellStyle: { background: { color: '#F0F5FC' } } },&#10;          { text: '录音场地布置、音频存储介质、打印（知情同意书、评分表）', textStyle: { textAlign: 'left' }, cellStyle: { background: { color: '#F0F5FC' } } },&#10;          { text: '＿＿', cellStyle: { background: { color: '#F0F5FC' } } },&#10;        ],&#10;        ['3', { text: '数据标注与整理' }, { text: '评测集整理、人工校对', textStyle: { textAlign: 'left' } }, '＿＿'],&#10;        [&#10;          { text: '4', cellStyle: { background: { color: '#F0F5FC' } } },&#10;          { text: '成果发表费 ★', textStyle: { fontWeight: 'bold' }, cellStyle: { background: { color: '#F0F5FC' } } },&#10;          { text: '论文版面费 / 软件著作权登记费', textStyle: { textAlign: 'left' }, cellStyle: { background: { color: '#F0F5FC' } } },&#10;          { text: '＿＿', cellStyle: { background: { color: '#F0F5FC' } } },&#10;        ],&#10;        ['5', { text: '文献与资料费' }, { text: '文献获取、查重', textStyle: { textAlign: 'left' } }, '＿＿'],&#10;        [&#10;          { text: '6', cellStyle: { background: { color: '#F0F5FC' } } },&#10;          { text: '计算资源', cellStyle: { background: { color: '#F0F5FC' } } },&#10;          { text: '批量评测所需电费 / 云算力补充（如需要）', textStyle: { textAlign: 'left' }, cellStyle: { background: { color: '#F0F5FC' } } },&#10;          { text: '＿＿', cellStyle: { background: { color: '#F0F5FC' } } },&#10;        ],&#10;        ['7', { text: '调研与交流费' }, { text: '学术会议、交流差旅（如学校允许）', textStyle: { textAlign: 'left' } }, '＿＿'],&#10;        [&#10;          { text: '8', cellStyle: { background: { color: '#F0F5FC' } } },&#10;          { text: '其他', cellStyle: { background: { color: '#F0F5FC' } } },&#10;          { text: '不可预见费', textStyle: { textAlign: 'left' }, cellStyle: { background: { color: '#F0F5FC' } } },&#10;          { text: '＿＿', cellStyle: { background: { color: '#F0F5FC' } } },&#10;        ],&#10;        [&#10;          { text: '', cellStyle: { background: { color: '#FFC107' } } },&#10;          { text: '合计', textStyle: { bold: true, color: '#1A2230' }, cellStyle: { background: { color: '#FFC107' } } },&#10;          { text: '', cellStyle: { background: { color: '#FFC107' } } },&#10;          { text: '＿＿', textStyle: { bold: true, color: '#1A2230' }, cellStyle: { background: { color: '#FFC107' } } },&#10;        ],&#10;      ]}&#10;    /&gt;&#10;    &lt;Box style={{ background: '#E8EFF8', borderRadius: 10, padding: 16, borderLeft: '5px solid #1E4FA8' }}&gt;&#10;      &lt;Text style={{ fontSize: 15, color: '#1A2230', lineHeight: 1.8 }}&gt;&#10;        &lt;Text style={{ fontWeight: 'bold', color: '#1E4FA8' }}&gt;预算说明&lt;/Text&gt;：本项目以&lt;Text style={{ fontWeight: 'bold' }}&gt;软件与数据研究&lt;/Text&gt;为主，设备投入低；&#10;        主要开支为被试劳务、材料与成果发表。具体额度以系统填报时的实际额度为准，&lt;Text style={{ fontWeight: 'bold' }}&gt;按学校规定如实申报使用&lt;/Text&gt;。&#10;      &lt;/Text&gt;&#10;      &lt;Text style={{ fontSize: 14, color: '#D9534F', marginTop: 8, lineHeight: 1.75 }}&gt;&#10;        ⚠️ 说明：本项目已具备可用的消费级 GPU，&lt;Text style={{ fontWeight: 'bold' }}&gt;无需大额硬件采购&lt;/Text&gt;，预算聚焦劳务与发表。&#10;      &lt;/Text&gt;&#10;    &lt;/Box&gt;&#10;  &lt;/Box&gt;&#10;  &lt;Box style={{ height: 60, justifyContent: 'center', paddingLeft: 40 }}&gt;&#10;    &lt;Text style={{ fontSize: 15, color: '#8B97A8' }}&gt;韩山师范学院 · 大学生创新创业训练项目　　16 / 18　│　金额栏待按学校额度填写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410075" y="219075"/>
            <a:ext cx="1600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五、项目预算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162675" y="295275"/>
            <a:ext cx="2009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官方要求第</a:t>
            </a: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项</a:t>
            </a: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聚焦必要支出</a:t>
            </a:r>
            <a:endParaRPr/>
          </a:p>
        </p:txBody>
      </p:sp>
      <p:graphicFrame>
        <p:nvGraphicFramePr>
          <p:cNvPr id="136" name=""/>
          <p:cNvGraphicFramePr/>
          <p:nvPr/>
        </p:nvGraphicFramePr>
        <p:xfrm rot="0" flipH="0" flipV="0">
          <a:off x="247650" y="1009650"/>
          <a:ext cx="11696700" cy="3238500"/>
        </p:xfrm>
        <a:graphic>
          <a:graphicData uri="http://schemas.openxmlformats.org/drawingml/2006/table">
            <a:tbl>
              <a:tblGrid>
                <a:gridCol w="366631">
                  <a:extLst>
                    <a:ext uri="{9D8B030D-6E8A-4147-A177-3AD203B41FA5}">
                      <a16:colId val="1"/>
                    </a:ext>
                  </a:extLst>
                </a:gridCol>
                <a:gridCol w="2120939">
                  <a:extLst>
                    <a:ext uri="{9D8B030D-6E8A-4147-A177-3AD203B41FA5}">
                      <a16:colId val="2"/>
                    </a:ext>
                  </a:extLst>
                </a:gridCol>
                <a:gridCol w="7640109">
                  <a:extLst>
                    <a:ext uri="{9D8B030D-6E8A-4147-A177-3AD203B41FA5}">
                      <a16:colId val="3"/>
                    </a:ext>
                  </a:extLst>
                </a:gridCol>
                <a:gridCol w="1569021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支出科目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用途说明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金额（元）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被试劳务费 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12 名录音被试 + 24 名听测被试的误工补贴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＿＿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实验耗材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录音场地布置、音频存储介质、打印（知情同意书、评分表）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＿＿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数据标注与整理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评测集整理、人工校对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＿＿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成果发表费 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论文版面费 / 软件著作权登记费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＿＿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文献与资料费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文献获取、查重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＿＿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计算资源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批量评测所需电费 / 云算力补充（如需要）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＿＿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调研与交流费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学术会议、交流差旅（如学校允许）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＿＿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其他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不可预见费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＿＿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10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合计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10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10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＿＿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107"/>
                    </a:solidFill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137" name=""/>
          <p:cNvSpPr/>
          <p:nvPr/>
        </p:nvSpPr>
        <p:spPr>
          <a:xfrm rot="0" flipH="0" flipV="0">
            <a:off x="295275" y="4381500"/>
            <a:ext cx="11696700" cy="981075"/>
          </a:xfrm>
          <a:prstGeom prst="roundRect">
            <a:avLst>
              <a:gd name="adj" fmla="val 970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295275" y="4381500"/>
            <a:ext cx="11696700" cy="981075"/>
          </a:xfrm>
          <a:custGeom>
            <a:pathLst>
              <a:path w="1228" h="10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8"/>
                </a:lnTo>
                <a:cubicBezTo>
                  <a:pt x="5" y="100"/>
                  <a:pt x="7" y="102"/>
                  <a:pt x="9" y="103"/>
                </a:cubicBezTo>
                <a:cubicBezTo>
                  <a:pt x="4" y="102"/>
                  <a:pt x="0" y="98"/>
                  <a:pt x="0" y="9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47675" y="4533900"/>
            <a:ext cx="11344275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预算说明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：本项目以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软件与数据研究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为主，设备投入低；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主要开支为被试劳务、材料与成果发表。具体额度以系统填报时的实际额度为准，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按学校规定如实申报使用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47675" y="4924425"/>
            <a:ext cx="11344275" cy="2857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 xml:space="preserve">⚠️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说明：本项目已具备可用的消费级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 xml:space="preserve"> GPU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，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无需大额硬件采购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，预算聚焦劳务与发表。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16 / 18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　│　金额栏待按学校额度填写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42" name="" descr="&lt;Slide style={{ padding: 0, background: '#FFFFFF' }}&gt;&#10;  &lt;Box style={{ height: 80, background: '#0E3F8C', justifyContent: 'center', paddingLeft: 40, flexDirection: 'row', alignItems: 'center', gap: 16 }}&gt;&#10;    &lt;Text style={{ fontSize: 28, color: '#FFFFFF', fontWeight: 'bold' }}&gt;团队构成与分工&lt;/Text&gt;&#10;    &lt;Text style={{ fontSize: 15, color: '#C9D8F0' }}&gt;按研究链条划分 · 每人有可交付物&lt;/Text&gt;&#10;  &lt;/Box&gt;&#10;  &lt;Box style={{ height: 580, padding: 26, gap: 14 }}&gt;&#10;    &lt;Table&#10;      style={{ width: '100%', height: 300 }}&#10;      defaultTextStyle={{ fontSize: 13, textAlign: 'center', color: '#1A2230' }}&#10;      defaultCellStyle={{ border: { left: { width: 1, color: '#D6DCE5' }, right: { width: 1, color: '#D6DCE5' }, top: { width: 1, color: '#D6DCE5' }, bottom: { width: 1, color: '#D6DCE5' } } }}&#10;      cells={[&#10;        [&#10;          { text: '姓名', textStyle: { bold: true, color: '#FFFFFF' }, cellStyle: { background: { color: '#1E4FA8' } } },&#10;          { text: '负责环节', textStyle: { bold: true, color: '#FFFFFF' }, cellStyle: { background: { color: '#1E4FA8' } } },&#10;          { text: '具体职责', textStyle: { bold: true, color: '#FFFFFF' }, cellStyle: { background: { color: '#1E4FA8' } } },&#10;          { text: '可交付物', textStyle: { bold: true, color: '#FFFFFF' }, cellStyle: { background: { color: '#1E4FA8' } } },&#10;        ],&#10;        [&#10;          { text: '牟　旭', textStyle: { bold: true, color: '#0E3F8C' } },&#10;          { text: '系统与评测引擎', textStyle: { fontWeight: 'bold' } },&#10;          { text: '总体方案设计；实验平台与评测流水线实现；自动质量门禁；数据统计分析；申报与结题材料统筹', textStyle: { textAlign: 'left' } },&#10;          { text: '可复现的评测流水线；客观评测结果与分析；项目文档', textStyle: { textAlign: 'left' } },&#10;        ],&#10;        [&#10;          { text: '李河璋', textStyle: { bold: true, color: '#0E3F8C' }, cellStyle: { background: { color: '#F0F5FC' } } },&#10;          { text: '被试招募与录音实施', cellStyle: { background: { color: '#F0F5FC' } } },&#10;          { text: '被试招募与沟通；知情同意流程执行；录音 SOP 制定与执行；录音质量筛查；评测语料集整理', textStyle: { textAlign: 'left' }, cellStyle: { background: { color: '#F0F5FC' } } },&#10;          { text: '知情同意书（已签署）；录音数据集；录音 SOP 文档', textStyle: { textAlign: 'left' }, cellStyle: { background: { color: '#F0F5FC' } } },&#10;        ],&#10;        [&#10;          { text: '罗文钎', textStyle: { bold: true, color: '#0E3F8C' } },&#10;          { text: '主观听测组织', textStyle: { fontWeight: 'bold' } },&#10;          { text: '听测方案设计；听测平台配置（随机化、盲听）；24 名听测者组织与实施；评分表收集与一致性检验', textStyle: { textAlign: 'left' } },&#10;          { text: '听测平台配置；MOS / ABX 评分数据；听测报告', textStyle: { textAlign: 'left' } },&#10;        ],&#10;        [&#10;          { text: '陈宏杰', textStyle: { bold: true, color: '#0E3F8C' }, cellStyle: { background: { color: '#F0F5FC' } } },&#10;          { text: '文献综述与对比实验', cellStyle: { background: { color: '#F0F5FC' } } },&#10;          { text: '国内外研究现状调研；与 Apple Personal Voice / 传统声音银行 / 云端克隆的对比分析；参考文献管理', textStyle: { textAlign: 'left' }, cellStyle: { background: { color: '#F0F5FC' } } },&#10;          { text: '文献综述章节；方案对比表', textStyle: { textAlign: 'left' }, cellStyle: { background: { color: '#F0F5FC' } } },&#10;        ],&#10;      ]}&#10;    /&gt;&#10;    &lt;Box style={{ flexDirection: 'row', gap: 14, flex: 1 }}&gt;&#10;      &lt;Box style={{ flex: 1, background: '#E8EFF8', borderRadius: 10, padding: 16, borderLeft: '5px solid #1E4FA8' }}&gt;&#10;        &lt;Text style={{ fontSize: 17, color: '#1E4FA8', fontWeight: 'bold' }}&gt;指导教师&lt;/Text&gt;&#10;        &lt;Text style={{ fontSize: 14, color: '#1A2230', marginTop: 10, lineHeight: 1.9 }}&gt;&#10;          姓名：&lt;Text style={{ color: '#8B97A8' }}&gt;＿＿＿＿＿＿&lt;/Text&gt;　职称：&lt;Text style={{ color: '#8B97A8' }}&gt;＿＿＿&lt;/Text&gt;{&quot;\n&quot;}&#10;          学院：&lt;Text style={{ color: '#8B97A8' }}&gt;＿＿＿＿＿＿&lt;/Text&gt;{&quot;\n&quot;}&#10;          指导分工：研究设计把关、听测与统计方法指导、项目流程指导&#10;        &lt;/Text&gt;&#10;      &lt;/Box&gt;&#10;      &lt;Box style={{ flex: 1, background: '#0E3F8C', borderRadius: 10, padding: 16, justifyContent: 'center' }}&gt;&#10;        &lt;Text style={{ fontSize: 16, color: '#FFC107', fontWeight: 'bold' }}&gt;分工原则&lt;/Text&gt;&#10;        &lt;Text style={{ fontSize: 14, color: '#FFFFFF', marginTop: 8, lineHeight: 1.8 }}&gt;&#10;          按&lt;Text style={{ fontWeight: 'bold' }}&gt;研究链条&lt;/Text&gt;划分，四人的职责互相衔接且&lt;Text style={{ fontWeight: 'bold' }}&gt;均有独立产出&lt;/Text&gt;；&#10;          每人对应明确可交付物，&lt;Text style={{ fontWeight: 'bold' }}&gt;不设&quot;协助&quot;类虚职&lt;/Text&gt;。&#10;        &lt;/Text&gt;&#10;      &lt;/Box&gt;&#10;    &lt;/Box&gt;&#10;  &lt;/Box&gt;&#10;  &lt;Box style={{ height: 60, justifyContent: 'center', paddingLeft: 40 }}&gt;&#10;    &lt;Text style={{ fontSize: 15, color: '#8B97A8' }}&gt;韩山师范学院 · 大学生创新创业训练项目　　17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219575" y="219075"/>
            <a:ext cx="1866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团队构成与分工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238875" y="295275"/>
            <a:ext cx="2124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按研究链条划分</a:t>
            </a: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C9D8F0"/>
                </a:solidFill>
                <a:latin typeface="Microsoft YaHei"/>
                <a:ea typeface="Microsoft YaHei"/>
              </a:rPr>
              <a:t>每人有可交付物</a:t>
            </a:r>
            <a:endParaRPr/>
          </a:p>
        </p:txBody>
      </p:sp>
      <p:graphicFrame>
        <p:nvGraphicFramePr>
          <p:cNvPr id="147" name=""/>
          <p:cNvGraphicFramePr/>
          <p:nvPr/>
        </p:nvGraphicFramePr>
        <p:xfrm rot="0" flipH="0" flipV="0">
          <a:off x="247650" y="1009650"/>
          <a:ext cx="11696700" cy="2857500"/>
        </p:xfrm>
        <a:graphic>
          <a:graphicData uri="http://schemas.openxmlformats.org/drawingml/2006/table">
            <a:tbl>
              <a:tblGrid>
                <a:gridCol w="518478">
                  <a:extLst>
                    <a:ext uri="{9D8B030D-6E8A-4147-A177-3AD203B41FA5}">
                      <a16:colId val="1"/>
                    </a:ext>
                  </a:extLst>
                </a:gridCol>
                <a:gridCol w="1350604">
                  <a:extLst>
                    <a:ext uri="{9D8B030D-6E8A-4147-A177-3AD203B41FA5}">
                      <a16:colId val="2"/>
                    </a:ext>
                  </a:extLst>
                </a:gridCol>
                <a:gridCol w="6396699">
                  <a:extLst>
                    <a:ext uri="{9D8B030D-6E8A-4147-A177-3AD203B41FA5}">
                      <a16:colId val="3"/>
                    </a:ext>
                  </a:extLst>
                </a:gridCol>
                <a:gridCol w="3430918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姓名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负责环节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具体职责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可交付物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牟　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系统与评测引擎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总体方案设计；实验平台与评测流水线实现；自动质量门禁；数据统计分析；申报与结题材料统筹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可复现的评测流水线；客观评测结果与分析；项目文档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李河璋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被试招募与录音实施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被试招募与沟通；知情同意流程执行；录音 SOP 制定与执行；录音质量筛查；评测语料集整理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知情同意书（已签署）；录音数据集；录音 SOP 文档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罗文钎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主观听测组织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听测方案设计；听测平台配置（随机化、盲听）；24 名听测者组织与实施；评分表收集与一致性检验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听测平台配置；MOS / ABX 评分数据；听测报告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陈宏杰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文献综述与对比实验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国内外研究现状调研；与 Apple Personal Voice / 传统声音银行 / 云端克隆的对比分析；参考文献管理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文献综述章节；方案对比表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48" name=""/>
          <p:cNvSpPr/>
          <p:nvPr/>
        </p:nvSpPr>
        <p:spPr>
          <a:xfrm rot="0" flipH="0" flipV="0">
            <a:off x="295275" y="4000500"/>
            <a:ext cx="5781675" cy="2038350"/>
          </a:xfrm>
          <a:prstGeom prst="roundRect">
            <a:avLst>
              <a:gd name="adj" fmla="val 467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295275" y="4000500"/>
            <a:ext cx="5781675" cy="2038350"/>
          </a:xfrm>
          <a:custGeom>
            <a:pathLst>
              <a:path w="607" h="21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209"/>
                </a:lnTo>
                <a:cubicBezTo>
                  <a:pt x="5" y="211"/>
                  <a:pt x="7" y="213"/>
                  <a:pt x="9" y="214"/>
                </a:cubicBezTo>
                <a:cubicBezTo>
                  <a:pt x="4" y="213"/>
                  <a:pt x="0" y="209"/>
                  <a:pt x="0" y="20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47675" y="4152900"/>
            <a:ext cx="542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指导教师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47675" y="4448175"/>
            <a:ext cx="5429250" cy="9144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姓名：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＿＿＿＿＿＿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　职称：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＿＿＿</a:t>
            </a:r>
            <a:endParaRPr/>
          </a:p>
          <a:p>
            <a:pPr>
              <a:lnSpc>
                <a:spcPct val="19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学院：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＿＿＿＿＿＿</a:t>
            </a:r>
            <a:endParaRPr/>
          </a:p>
          <a:p>
            <a:pPr>
              <a:lnSpc>
                <a:spcPct val="19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指导分工：研究设计把关、听测与统计方法指导、项目流程指导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162675" y="4000500"/>
            <a:ext cx="5781675" cy="2038350"/>
          </a:xfrm>
          <a:prstGeom prst="roundRect">
            <a:avLst>
              <a:gd name="adj" fmla="val 467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315075" y="4600575"/>
            <a:ext cx="5476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C107"/>
                </a:solidFill>
                <a:latin typeface="Microsoft YaHei"/>
                <a:ea typeface="Microsoft YaHei"/>
              </a:rPr>
              <a:t>分工原则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315075" y="4867275"/>
            <a:ext cx="54768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按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研究链条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划分，四人的职责互相衔接且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均有独立产出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；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每人对应明确可交付物，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不设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协助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类虚职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181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大学生创新创业训练项目　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56" name="" descr="&lt;Slide style={{ padding: 0, background: '#0E3F8C' }}&gt;&#10;  &lt;Box style={{ height: 720, justifyContent: 'center', paddingLeft: 80, paddingRight: 80 }}&gt;&#10;    &lt;Text style={{ fontSize: 42, color: '#FFFFFF', fontWeight: 'bold', lineHeight: 1.4 }}&gt;感谢各位老师审阅&lt;/Text&gt;&#10;    &lt;Box style={{ width: 90, height: 5, background: '#FFC107', marginTop: 22 }} /&gt;&#10;    &lt;Box style={{ background: '#3D7BD9', borderRadius: 10, padding: 20, marginTop: 28, width: '100%' }}&gt;&#10;      &lt;Text style={{ fontSize: 18, color: '#FFFFFF', lineHeight: 1.9 }}&gt;&#10;        &lt;Text style={{ fontWeight: 'bold', color: '#FFC107' }}&gt;项目名称：&lt;/Text&gt;面向职业用嗓人群的本地声音保存与少样本复现质量边界研究{&quot;\n&quot;}&#10;        &lt;Text style={{ fontWeight: 'bold', color: '#FFC107' }}&gt;项目负责人：&lt;/Text&gt;牟旭　　&lt;Text style={{ fontWeight: 'bold', color: '#FFC107' }}&gt;团队成员：&lt;/Text&gt;李河璋　罗文钎　陈宏杰{&quot;\n&quot;}&#10;        &lt;Text style={{ fontWeight: 'bold', color: '#FFC107' }}&gt;指导教师：&lt;/Text&gt;＿＿＿＿＿＿　　&lt;Text style={{ fontWeight: 'bold', color: '#FFC107' }}&gt;所在学院：&lt;/Text&gt;＿＿＿＿＿＿&#10;      &lt;/Text&gt;&#10;    &lt;/Box&gt;&#10;    &lt;Text style={{ fontSize: 17, color: '#C9D8F0', marginTop: 26, lineHeight: 1.8 }}&gt;&#10;      所有语音数据&lt;Text style={{ fontWeight: 'bold', color: '#FFFFFF' }}&gt;全程在本地处理，不上传任何服务器&lt;/Text&gt;。&#10;      本项目为&lt;Text style={{ fontWeight: 'bold', color: '#FFFFFF' }}&gt;研究训练 + 系统集成创新 + 场景落地&lt;/Text&gt;，&#10;      不宣称医疗效果，不使用&quot;首次 / 领先 / 唯一&quot;等表述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62000" y="1571625"/>
            <a:ext cx="10668000" cy="676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感谢各位老师审阅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762000" y="2457450"/>
            <a:ext cx="85725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762000" y="2771775"/>
            <a:ext cx="10668000" cy="1562100"/>
          </a:xfrm>
          <a:prstGeom prst="roundRect">
            <a:avLst>
              <a:gd name="adj" fmla="val 6098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52500" y="2962275"/>
            <a:ext cx="10287000" cy="11811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项目名称：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面向职业用嗓人群的本地声音保存与少样本复现质量边界研究</a:t>
            </a:r>
            <a:endParaRPr/>
          </a:p>
          <a:p>
            <a:pPr>
              <a:lnSpc>
                <a:spcPct val="19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项目负责人：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牟旭　　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团队成员：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李河璋　罗文钎　陈宏杰</a:t>
            </a:r>
            <a:endParaRPr/>
          </a:p>
          <a:p>
            <a:pPr>
              <a:lnSpc>
                <a:spcPct val="19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指导教师：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＿＿＿＿＿＿　　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所在学院：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＿＿＿＿＿＿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62000" y="4581525"/>
            <a:ext cx="10668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b="1">
                <a:solidFill>
                  <a:srgbClr val="FFC107"/>
                </a:solidFill>
              </a:rPr>
              <a:t>合规与诚信</a:t>
            </a:r>
            <a:r>
              <a:rPr b="0">
                <a:solidFill>
                  <a:srgbClr val="FFFFFF"/>
                </a:solidFill>
              </a:rPr>
              <a:t>：本类项目为创新训练，</a:t>
            </a:r>
            <a:r>
              <a:rPr b="1">
                <a:solidFill>
                  <a:srgbClr val="FFFFFF"/>
                </a:solidFill>
              </a:rPr>
              <a:t>不发明新模型、不做产品/商业叙事</a:t>
            </a:r>
            <a:r>
              <a:rPr b="0">
                <a:solidFill>
                  <a:srgbClr val="FFFFFF"/>
                </a:solidFill>
              </a:rPr>
              <a:t>；语音数据</a:t>
            </a:r>
            <a:r>
              <a:rPr b="1">
                <a:solidFill>
                  <a:srgbClr val="FFFFFF"/>
                </a:solidFill>
              </a:rPr>
              <a:t>全程本地处理、不上传服务器</a:t>
            </a:r>
            <a:r>
              <a:rPr b="0">
                <a:solidFill>
                  <a:srgbClr val="FFFFFF"/>
                </a:solidFill>
              </a:rPr>
              <a:t>；</a:t>
            </a:r>
            <a:r>
              <a:rPr b="1">
                <a:solidFill>
                  <a:srgbClr val="FFFFFF"/>
                </a:solidFill>
              </a:rPr>
              <a:t>不宣称任何医疗或诊断效果</a:t>
            </a:r>
            <a:r>
              <a:rPr b="0">
                <a:solidFill>
                  <a:srgbClr val="FFFFFF"/>
                </a:solidFill>
              </a:rPr>
              <a:t>；全文</a:t>
            </a:r>
            <a:r>
              <a:rPr b="1">
                <a:solidFill>
                  <a:srgbClr val="FFFFFF"/>
                </a:solidFill>
              </a:rPr>
              <a:t>不使用「首次/领先/唯一」</a:t>
            </a:r>
            <a:r>
              <a:rPr b="0">
                <a:solidFill>
                  <a:srgbClr val="FFFFFF"/>
                </a:solidFill>
              </a:rPr>
              <a:t>等表述。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2026-10-04T13:06:38Z</dcterms:created>
  <dcterms:modified xsi:type="dcterms:W3CDTF">2026-10-04T13:06:38Z</dcterms:modified>
</cp:coreProperties>
</file>