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LOCAL VOICE PRESERVATION · FEW-SHOT REPRODUCTION QUALITY BOUNDARY&lt;/Text&gt;&#10;    &lt;Text style={{ fontSize: 42, color: '#0E3F8C', fontWeight: 'bold', marginTop: 16, lineHeight: 1.3 }}&gt;面向职业用嗓人群的本地声音保存&lt;br /&gt;与少样本复现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文本框 3" descr="{&quot;isTemplate&quot;:true,&quot;type&quot;:&quot;text&quot;}"/>
          <p:cNvSpPr txBox="1"/>
          <p:nvPr/>
        </p:nvSpPr>
        <p:spPr>
          <a:xfrm>
            <a:off x="609600" y="428625"/>
            <a:ext cx="115824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文本框 4" descr="{&quot;isTemplate&quot;:true,&quot;type&quot;:&quot;text&quot;}"/>
          <p:cNvSpPr txBox="1"/>
          <p:nvPr/>
        </p:nvSpPr>
        <p:spPr>
          <a:xfrm>
            <a:off x="609600" y="809625"/>
            <a:ext cx="11582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609600" y="2495550"/>
            <a:ext cx="109728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LOCAL VOICE PRESERVATION · FEW-SHOT REPRODUCTION QUALITY BOUNDARY</a:t>
            </a:r>
            <a:endParaRPr/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609600" y="2847975"/>
            <a:ext cx="10972800" cy="12573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面向职业用嗓人群的本地声音保存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与少样本复现质量边界研究</a:t>
            </a:r>
            <a:endParaRPr/>
          </a:p>
        </p:txBody>
      </p:sp>
      <p:sp>
        <p:nvSpPr>
          <p:cNvPr id="8" name="矩形 7"/>
          <p:cNvSpPr/>
          <p:nvPr/>
        </p:nvSpPr>
        <p:spPr>
          <a:xfrm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任意多边形: 形状 8"/>
          <p:cNvSpPr/>
          <p:nvPr/>
        </p:nvSpPr>
        <p:spPr>
          <a:xfrm>
            <a:off x="0" y="5429250"/>
            <a:ext cx="12192000" cy="1428750"/>
          </a:xfrm>
          <a:custGeom>
            <a:avLst/>
            <a:gdLst/>
            <a:ahLst/>
            <a:cxnLst/>
            <a:rect l="0" t="0" r="0" b="0"/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文本框 9" descr="{&quot;isTemplate&quot;:true,&quot;type&quot;:&quot;text&quot;}"/>
          <p:cNvSpPr txBox="1"/>
          <p:nvPr/>
        </p:nvSpPr>
        <p:spPr>
          <a:xfrm>
            <a:off x="609600" y="5905500"/>
            <a:ext cx="12192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项目负责人：牟旭</a:t>
            </a:r>
            <a:endParaRPr/>
          </a:p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2209800" y="5905500"/>
            <a:ext cx="2438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团队成员：李河璋　罗文钎　陈宏杰</a:t>
            </a:r>
            <a:endParaRPr/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609600" y="6210300"/>
            <a:ext cx="1676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指导教师：＿＿＿＿＿＿</a:t>
            </a:r>
            <a:endParaRPr/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2667000" y="6210300"/>
            <a:ext cx="1676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所在学院：＿＿＿＿＿＿</a:t>
            </a:r>
            <a:endParaRPr/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4724400" y="6210300"/>
            <a:ext cx="13430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矩形 1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5" name="任意多边形: 形状 164"/>
          <p:cNvSpPr/>
          <p:nvPr/>
        </p:nvSpPr>
        <p:spPr>
          <a:xfrm>
            <a:off x="0" y="0"/>
            <a:ext cx="12192000" cy="857250"/>
          </a:xfrm>
          <a:custGeom>
            <a:avLst/>
            <a:gdLst/>
            <a:ahLst/>
            <a:cxnLst/>
            <a:rect l="0" t="0" r="0" b="0"/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457200" y="123825"/>
            <a:ext cx="117348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457200" y="533400"/>
            <a:ext cx="117348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严格对照官方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创新类项目进展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PPT"5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项要求逐条组织</a:t>
            </a:r>
            <a:endParaRPr/>
          </a:p>
        </p:txBody>
      </p:sp>
      <p:sp>
        <p:nvSpPr>
          <p:cNvPr id="168" name="矩形: 圆角 167"/>
          <p:cNvSpPr/>
          <p:nvPr/>
        </p:nvSpPr>
        <p:spPr>
          <a:xfrm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9" name="任意多边形: 形状 168"/>
          <p:cNvSpPr/>
          <p:nvPr/>
        </p:nvSpPr>
        <p:spPr>
          <a:xfrm>
            <a:off x="352425" y="1162050"/>
            <a:ext cx="3762375" cy="2200275"/>
          </a:xfrm>
          <a:custGeom>
            <a:avLst/>
            <a:gdLst/>
            <a:ahLst/>
            <a:cxnLst/>
            <a:rect l="0" t="0" r="0" b="0"/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523875" y="1333500"/>
            <a:ext cx="3371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文本框 170" descr="{&quot;isTemplate&quot;:true,&quot;type&quot;:&quot;text&quot;}"/>
          <p:cNvSpPr txBox="1"/>
          <p:nvPr/>
        </p:nvSpPr>
        <p:spPr>
          <a:xfrm>
            <a:off x="523875" y="1676400"/>
            <a:ext cx="33718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文本框 171" descr="{&quot;isTemplate&quot;:true,&quot;type&quot;:&quot;text&quot;}"/>
          <p:cNvSpPr txBox="1"/>
          <p:nvPr/>
        </p:nvSpPr>
        <p:spPr>
          <a:xfrm>
            <a:off x="523875" y="1943100"/>
            <a:ext cx="33718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矩形: 圆角 172"/>
          <p:cNvSpPr/>
          <p:nvPr/>
        </p:nvSpPr>
        <p:spPr>
          <a:xfrm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4" name="任意多边形: 形状 173"/>
          <p:cNvSpPr/>
          <p:nvPr/>
        </p:nvSpPr>
        <p:spPr>
          <a:xfrm>
            <a:off x="4267200" y="1162050"/>
            <a:ext cx="3752850" cy="2200275"/>
          </a:xfrm>
          <a:custGeom>
            <a:avLst/>
            <a:gdLst/>
            <a:ahLst/>
            <a:cxnLst/>
            <a:rect l="0" t="0" r="0" b="0"/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4438650" y="1333500"/>
            <a:ext cx="3362325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4438650" y="1676400"/>
            <a:ext cx="33623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4438650" y="1943100"/>
            <a:ext cx="3362325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矩形: 圆角 177"/>
          <p:cNvSpPr/>
          <p:nvPr/>
        </p:nvSpPr>
        <p:spPr>
          <a:xfrm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9" name="任意多边形: 形状 178"/>
          <p:cNvSpPr/>
          <p:nvPr/>
        </p:nvSpPr>
        <p:spPr>
          <a:xfrm>
            <a:off x="8172450" y="1162050"/>
            <a:ext cx="3762375" cy="2200275"/>
          </a:xfrm>
          <a:custGeom>
            <a:avLst/>
            <a:gdLst/>
            <a:ahLst/>
            <a:cxnLst/>
            <a:rect l="0" t="0" r="0" b="0"/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0" name="文本框 179" descr="{&quot;isTemplate&quot;:true,&quot;type&quot;:&quot;text&quot;}"/>
          <p:cNvSpPr txBox="1"/>
          <p:nvPr/>
        </p:nvSpPr>
        <p:spPr>
          <a:xfrm>
            <a:off x="8343900" y="1333500"/>
            <a:ext cx="3371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8343900" y="1676400"/>
            <a:ext cx="33718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文本框 181" descr="{&quot;isTemplate&quot;:true,&quot;type&quot;:&quot;text&quot;}"/>
          <p:cNvSpPr txBox="1"/>
          <p:nvPr/>
        </p:nvSpPr>
        <p:spPr>
          <a:xfrm>
            <a:off x="8343900" y="1943100"/>
            <a:ext cx="33718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矩形: 圆角 182"/>
          <p:cNvSpPr/>
          <p:nvPr/>
        </p:nvSpPr>
        <p:spPr>
          <a:xfrm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4" name="任意多边形: 形状 183"/>
          <p:cNvSpPr/>
          <p:nvPr/>
        </p:nvSpPr>
        <p:spPr>
          <a:xfrm>
            <a:off x="352425" y="3495675"/>
            <a:ext cx="3762375" cy="2200275"/>
          </a:xfrm>
          <a:custGeom>
            <a:avLst/>
            <a:gdLst/>
            <a:ahLst/>
            <a:cxnLst/>
            <a:rect l="0" t="0" r="0" b="0"/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523875" y="3667125"/>
            <a:ext cx="3371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523875" y="4010025"/>
            <a:ext cx="33718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523875" y="4276725"/>
            <a:ext cx="33718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矩形: 圆角 187"/>
          <p:cNvSpPr/>
          <p:nvPr/>
        </p:nvSpPr>
        <p:spPr>
          <a:xfrm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9" name="任意多边形: 形状 188"/>
          <p:cNvSpPr/>
          <p:nvPr/>
        </p:nvSpPr>
        <p:spPr>
          <a:xfrm>
            <a:off x="4267200" y="3495675"/>
            <a:ext cx="3752850" cy="2200275"/>
          </a:xfrm>
          <a:custGeom>
            <a:avLst/>
            <a:gdLst/>
            <a:ahLst/>
            <a:cxnLst/>
            <a:rect l="0" t="0" r="0" b="0"/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4438650" y="3667125"/>
            <a:ext cx="3362325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4438650" y="4010025"/>
            <a:ext cx="33623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4438650" y="4276725"/>
            <a:ext cx="3362325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矩形: 圆角 192"/>
          <p:cNvSpPr/>
          <p:nvPr/>
        </p:nvSpPr>
        <p:spPr>
          <a:xfrm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4" name="任意多边形: 形状 193"/>
          <p:cNvSpPr/>
          <p:nvPr/>
        </p:nvSpPr>
        <p:spPr>
          <a:xfrm>
            <a:off x="8172450" y="3495675"/>
            <a:ext cx="3762375" cy="2200275"/>
          </a:xfrm>
          <a:custGeom>
            <a:avLst/>
            <a:gdLst/>
            <a:ahLst/>
            <a:cxnLst/>
            <a:rect l="0" t="0" r="0" b="0"/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8343900" y="3667125"/>
            <a:ext cx="3371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8343900" y="4010025"/>
            <a:ext cx="33718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8343900" y="4276725"/>
            <a:ext cx="33718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457200" y="6115050"/>
            <a:ext cx="117348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矩形 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762000" y="1790700"/>
            <a:ext cx="10668000" cy="1371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762000" y="3200400"/>
            <a:ext cx="1066800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矩形 202"/>
          <p:cNvSpPr/>
          <p:nvPr/>
        </p:nvSpPr>
        <p:spPr>
          <a:xfrm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762000" y="4219575"/>
            <a:ext cx="10668000" cy="847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项：项目概述、背景、现状、自我评述。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职业用嗓人群&lt;/Text&gt;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保存与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矩形 2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7" name="矩形 206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4267200" y="219075"/>
            <a:ext cx="1600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6019800" y="295275"/>
            <a:ext cx="2295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矩形: 圆角 209"/>
          <p:cNvSpPr/>
          <p:nvPr/>
        </p:nvSpPr>
        <p:spPr>
          <a:xfrm>
            <a:off x="361950" y="1066800"/>
            <a:ext cx="11582400" cy="1495425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1" name="任意多边形: 形状 210"/>
          <p:cNvSpPr/>
          <p:nvPr/>
        </p:nvSpPr>
        <p:spPr>
          <a:xfrm>
            <a:off x="361950" y="1066800"/>
            <a:ext cx="11582400" cy="1495425"/>
          </a:xfrm>
          <a:custGeom>
            <a:avLst/>
            <a:gdLst/>
            <a:ahLst/>
            <a:cxnLst/>
            <a:rect l="0" t="0" r="0" b="0"/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2" name="文本框 211" descr="{&quot;isTemplate&quot;:true,&quot;type&quot;:&quot;text&quot;}"/>
          <p:cNvSpPr txBox="1"/>
          <p:nvPr/>
        </p:nvSpPr>
        <p:spPr>
          <a:xfrm>
            <a:off x="590550" y="1295400"/>
            <a:ext cx="110680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590550" y="1609725"/>
            <a:ext cx="11068050" cy="723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面向职业用嗓人群（教师、师范生、播音主持、客服等）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不可逆嗓音损失的风险，研究本地离线、秒级参考音条件下的声音保存与复现质量边界问题——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给克隆系统多少秒参考音，才能复现出可接受的声音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并回答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客观声学指标能否替代人工听测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这一方法论问题。</a:t>
            </a:r>
            <a:endParaRPr/>
          </a:p>
        </p:txBody>
      </p:sp>
      <p:sp>
        <p:nvSpPr>
          <p:cNvPr id="214" name="矩形: 圆角 213"/>
          <p:cNvSpPr/>
          <p:nvPr/>
        </p:nvSpPr>
        <p:spPr>
          <a:xfrm>
            <a:off x="304800" y="2733675"/>
            <a:ext cx="5705475" cy="243840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495300" y="2924175"/>
            <a:ext cx="532447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>✕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我们不做</a:t>
            </a:r>
            <a:endParaRPr/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495300" y="3238500"/>
            <a:ext cx="5324475" cy="1390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不发明新的大模型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不追求模型层面的原创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产品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商业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叙事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不宣称任何医疗效果</a:t>
            </a:r>
            <a:endParaRPr/>
          </a:p>
        </p:txBody>
      </p:sp>
      <p:sp>
        <p:nvSpPr>
          <p:cNvPr id="217" name="矩形: 圆角 216"/>
          <p:cNvSpPr/>
          <p:nvPr/>
        </p:nvSpPr>
        <p:spPr>
          <a:xfrm>
            <a:off x="6181725" y="2733675"/>
            <a:ext cx="5705475" cy="2438400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6372225" y="2924175"/>
            <a:ext cx="532447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我们做</a:t>
            </a:r>
            <a:endParaRPr/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6372225" y="3238500"/>
            <a:ext cx="5324475" cy="1743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把已有成熟模型工程化为</a:t>
            </a:r>
            <a:endParaRPr/>
          </a:p>
          <a:p>
            <a:pPr>
              <a:lnSpc>
                <a:spcPct val="19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可控、可复现的实验平台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用严格协议测量「质量—代价」</a:t>
            </a:r>
            <a:endParaRPr/>
          </a:p>
          <a:p>
            <a:pPr>
              <a:lnSpc>
                <a:spcPct val="19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的真实关系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把测量结果反哺为自动质量门禁</a:t>
            </a:r>
            <a:endParaRPr/>
          </a:p>
        </p:txBody>
      </p:sp>
      <p:sp>
        <p:nvSpPr>
          <p:cNvPr id="220" name="矩形: 圆角 219"/>
          <p:cNvSpPr/>
          <p:nvPr/>
        </p:nvSpPr>
        <p:spPr>
          <a:xfrm>
            <a:off x="304800" y="5343525"/>
            <a:ext cx="11582400" cy="676275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476250" y="5514975"/>
            <a:ext cx="11239500" cy="333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核心价值：把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能不能用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（用数据回答）。</a:t>
            </a:r>
            <a:endParaRPr/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矩形 2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5" name="矩形 224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4324350" y="219075"/>
            <a:ext cx="18669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文本框 226" descr="{&quot;isTemplate&quot;:true,&quot;type&quot;:&quot;text&quot;}"/>
          <p:cNvSpPr txBox="1"/>
          <p:nvPr/>
        </p:nvSpPr>
        <p:spPr>
          <a:xfrm>
            <a:off x="6343650" y="295275"/>
            <a:ext cx="1914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矩形: 圆角 227"/>
          <p:cNvSpPr/>
          <p:nvPr/>
        </p:nvSpPr>
        <p:spPr>
          <a:xfrm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457200" y="1238250"/>
            <a:ext cx="3457575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457200" y="1685925"/>
            <a:ext cx="3457575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矩形: 圆角 230"/>
          <p:cNvSpPr/>
          <p:nvPr/>
        </p:nvSpPr>
        <p:spPr>
          <a:xfrm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4371975" y="1238250"/>
            <a:ext cx="3448050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4371975" y="1685925"/>
            <a:ext cx="344805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矩形: 圆角 233"/>
          <p:cNvSpPr/>
          <p:nvPr/>
        </p:nvSpPr>
        <p:spPr>
          <a:xfrm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5" name="文本框 234" descr="{&quot;isTemplate&quot;:true,&quot;type&quot;:&quot;text&quot;}"/>
          <p:cNvSpPr txBox="1"/>
          <p:nvPr/>
        </p:nvSpPr>
        <p:spPr>
          <a:xfrm>
            <a:off x="8277225" y="1238250"/>
            <a:ext cx="3457575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8277225" y="1685925"/>
            <a:ext cx="3457575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文本框 236" descr="{&quot;isTemplate&quot;:true,&quot;type&quot;:&quot;text&quot;}"/>
          <p:cNvSpPr txBox="1"/>
          <p:nvPr/>
        </p:nvSpPr>
        <p:spPr>
          <a:xfrm>
            <a:off x="304800" y="2343150"/>
            <a:ext cx="115824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表格 237"/>
          <p:cNvGraphicFramePr/>
          <p:nvPr/>
        </p:nvGraphicFramePr>
        <p:xfrm>
          <a:off x="304800" y="2714625"/>
          <a:ext cx="11582400" cy="1866900"/>
        </p:xfrm>
        <a:graphic>
          <a:graphicData uri="http://schemas.openxmlformats.org/drawingml/2006/table">
            <a:tbl>
              <a:tblPr/>
              <a:tblGrid>
                <a:gridCol w="4675204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2752160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4155036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</a:tblGrid>
              <a:tr h="466725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466725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466725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466725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</a:tbl>
          </a:graphicData>
        </a:graphic>
      </p:graphicFrame>
      <p:sp>
        <p:nvSpPr>
          <p:cNvPr id="239" name="矩形: 圆角 238"/>
          <p:cNvSpPr/>
          <p:nvPr/>
        </p:nvSpPr>
        <p:spPr>
          <a:xfrm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0" name="任意多边形: 形状 239"/>
          <p:cNvSpPr/>
          <p:nvPr/>
        </p:nvSpPr>
        <p:spPr>
          <a:xfrm>
            <a:off x="352425" y="4733925"/>
            <a:ext cx="11582400" cy="990600"/>
          </a:xfrm>
          <a:custGeom>
            <a:avLst/>
            <a:gdLst/>
            <a:ahLst/>
            <a:cxnLst/>
            <a:rect l="0" t="0" r="0" b="0"/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1" name="文本框 240" descr="{&quot;isTemplate&quot;:true,&quot;type&quot;:&quot;text&quot;}"/>
          <p:cNvSpPr txBox="1"/>
          <p:nvPr/>
        </p:nvSpPr>
        <p:spPr>
          <a:xfrm>
            <a:off x="504825" y="4886325"/>
            <a:ext cx="11229975" cy="685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"Windows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上没人做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，而是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离线可用性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对行动受限或处于无网环境的人群，联网方案在结构上就不适用。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而在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本地离线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+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秒级参考音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这一格中，「质量代价究竟有多大」尚未被系统回答。</a:t>
            </a:r>
            <a:endParaRPr/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矩形 2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5" name="矩形 244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3981450" y="219075"/>
            <a:ext cx="1600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文本框 246" descr="{&quot;isTemplate&quot;:true,&quot;type&quot;:&quot;text&quot;}"/>
          <p:cNvSpPr txBox="1"/>
          <p:nvPr/>
        </p:nvSpPr>
        <p:spPr>
          <a:xfrm>
            <a:off x="5734050" y="295275"/>
            <a:ext cx="2857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矩形: 圆角 247"/>
          <p:cNvSpPr/>
          <p:nvPr/>
        </p:nvSpPr>
        <p:spPr>
          <a:xfrm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361950" y="1123950"/>
            <a:ext cx="114681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361950" y="1419225"/>
            <a:ext cx="11468100" cy="8667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前期基础扎实：后端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37,872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40,169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/ 27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插件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/ 2,847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/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已开源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可行性风险低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评测引擎与协议已就绪：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1559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+ 99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测试，立案后可直接进入数据采集</a:t>
            </a:r>
            <a:endParaRPr/>
          </a:p>
        </p:txBody>
      </p:sp>
      <p:sp>
        <p:nvSpPr>
          <p:cNvPr id="251" name="矩形: 圆角 250"/>
          <p:cNvSpPr/>
          <p:nvPr/>
        </p:nvSpPr>
        <p:spPr>
          <a:xfrm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361950" y="2667000"/>
            <a:ext cx="114681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文本框 252" descr="{&quot;isTemplate&quot;:true,&quot;type&quot;:&quot;text&quot;}"/>
          <p:cNvSpPr txBox="1"/>
          <p:nvPr/>
        </p:nvSpPr>
        <p:spPr>
          <a:xfrm>
            <a:off x="361950" y="2962275"/>
            <a:ext cx="11468100" cy="1152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主观听测（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）团队尚无实施经验，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MOS / ABX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的组织、被试管理、评分一致性控制都需方法指导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矩形: 圆角 253"/>
          <p:cNvSpPr/>
          <p:nvPr/>
        </p:nvSpPr>
        <p:spPr>
          <a:xfrm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5" name="文本框 254" descr="{&quot;isTemplate&quot;:true,&quot;type&quot;:&quot;text&quot;}"/>
          <p:cNvSpPr txBox="1"/>
          <p:nvPr/>
        </p:nvSpPr>
        <p:spPr>
          <a:xfrm>
            <a:off x="361950" y="4495800"/>
            <a:ext cx="114681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文本框 255" descr="{&quot;isTemplate&quot;:true,&quot;type&quot;:&quot;text&quot;}"/>
          <p:cNvSpPr txBox="1"/>
          <p:nvPr/>
        </p:nvSpPr>
        <p:spPr>
          <a:xfrm>
            <a:off x="361950" y="4791075"/>
            <a:ext cx="11468100" cy="1152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立项后先做小规模预实验跑通流程；请老师把关听测设计与统计；复用已有盲听平台（随机化、不显示条件）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② 2026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10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月内即启动招募；每人实际仅需录约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65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秒，参与成本低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个月内完成统计方法自学；关键分析由指导老师复核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GPU</a:t>
            </a:r>
            <a:endParaRPr/>
          </a:p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矩形 25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762000" y="2000250"/>
            <a:ext cx="10668000" cy="1371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762000" y="3409950"/>
            <a:ext cx="1066800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矩形 261"/>
          <p:cNvSpPr/>
          <p:nvPr/>
        </p:nvSpPr>
        <p:spPr>
          <a:xfrm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3" name="文本框 262" descr="{&quot;isTemplate&quot;:true,&quot;type&quot;:&quot;text&quot;}"/>
          <p:cNvSpPr txBox="1"/>
          <p:nvPr/>
        </p:nvSpPr>
        <p:spPr>
          <a:xfrm>
            <a:off x="762000" y="4429125"/>
            <a:ext cx="10668000" cy="4286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项：目的意义、技术水平、基本思路、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研究方案及路线、适用范围或推广前景。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职业用嗓人群：提供不依赖网络与特定设备的保存路径{&quot;\n&quot;}&#10;        · 对研究方法：补充系统性、控制变量的实验数据{&quot;\n&quot;}&#10;        · 对教学场景：微课配音的本地化、离线化生产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30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7,872 行 · 前端 40,169 行 · 27 插件 · 2,847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矩形 26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6" name="矩形 265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7" name="文本框 266" descr="{&quot;isTemplate&quot;:true,&quot;type&quot;:&quot;text&quot;}"/>
          <p:cNvSpPr txBox="1"/>
          <p:nvPr/>
        </p:nvSpPr>
        <p:spPr>
          <a:xfrm>
            <a:off x="3857625" y="219075"/>
            <a:ext cx="29337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6943725" y="295275"/>
            <a:ext cx="17716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矩形: 圆角 268"/>
          <p:cNvSpPr/>
          <p:nvPr/>
        </p:nvSpPr>
        <p:spPr>
          <a:xfrm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0" name="任意多边形: 形状 269"/>
          <p:cNvSpPr/>
          <p:nvPr/>
        </p:nvSpPr>
        <p:spPr>
          <a:xfrm>
            <a:off x="342900" y="1047750"/>
            <a:ext cx="4419600" cy="4953000"/>
          </a:xfrm>
          <a:custGeom>
            <a:avLst/>
            <a:gdLst/>
            <a:ahLst/>
            <a:cxnLst/>
            <a:rect l="0" t="0" r="0" b="0"/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552450" y="1257300"/>
            <a:ext cx="39433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552450" y="1619250"/>
            <a:ext cx="3943350" cy="33432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建立一套可复现的测量方法，回答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本地离线、秒级参考音条件下的声音复现质量边界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，并给出面向普通用户的可操作结论。（要保存声音，最少录多久？）</a:t>
            </a:r>
            <a:r>
              <a:rPr sz="1125">
                <a:solidFill>
                  <a:srgbClr val="1A2230"/>
                </a:solidFill>
                <a:latin typeface="Microsoft YaHei"/>
                <a:ea typeface="Microsoft YaHei"/>
              </a:rPr>
              <a:t>
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意义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对职业用嗓人群：提供不依赖网络与特定设备的保存路径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对教学场景：微课配音的本地化、离线化生产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4933950" y="1047750"/>
            <a:ext cx="697230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矩形: 圆角 273"/>
          <p:cNvSpPr/>
          <p:nvPr/>
        </p:nvSpPr>
        <p:spPr>
          <a:xfrm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5067300" y="1552575"/>
            <a:ext cx="1981200" cy="4381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50ms</a:t>
            </a:r>
            <a:endParaRPr/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5067300" y="2028825"/>
            <a:ext cx="19812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 GPU</a:t>
            </a:r>
            <a:endParaRPr/>
          </a:p>
        </p:txBody>
      </p:sp>
      <p:sp>
        <p:nvSpPr>
          <p:cNvPr id="277" name="矩形: 圆角 276"/>
          <p:cNvSpPr/>
          <p:nvPr/>
        </p:nvSpPr>
        <p:spPr>
          <a:xfrm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7429500" y="1552575"/>
            <a:ext cx="1981200" cy="4381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文本框 278" descr="{&quot;isTemplate&quot;:true,&quot;type&quot;:&quot;text&quot;}"/>
          <p:cNvSpPr txBox="1"/>
          <p:nvPr/>
        </p:nvSpPr>
        <p:spPr>
          <a:xfrm>
            <a:off x="7429500" y="2028825"/>
            <a:ext cx="19812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矩形: 圆角 279"/>
          <p:cNvSpPr/>
          <p:nvPr/>
        </p:nvSpPr>
        <p:spPr>
          <a:xfrm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9791700" y="1552575"/>
            <a:ext cx="1981200" cy="4381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9791700" y="2028825"/>
            <a:ext cx="19812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表格 282"/>
          <p:cNvGraphicFramePr/>
          <p:nvPr/>
        </p:nvGraphicFramePr>
        <p:xfrm>
          <a:off x="4933950" y="2590800"/>
          <a:ext cx="6972300" cy="2095500"/>
        </p:xfrm>
        <a:graphic>
          <a:graphicData uri="http://schemas.openxmlformats.org/drawingml/2006/table">
            <a:tbl>
              <a:tblPr/>
              <a:tblGrid>
                <a:gridCol w="1799303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5172997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300 ms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37,872 行 · 前端 40,169 行 · 27 插件 · 2,847 测试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"/>
                  </a:ext>
                </a:extLst>
              </a:tr>
              <a:tr h="299357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"/>
                  </a:ext>
                </a:extLst>
              </a:tr>
            </a:tbl>
          </a:graphicData>
        </a:graphic>
      </p:graphicFrame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矩形 28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7" name="矩形 286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3857625" y="219075"/>
            <a:ext cx="1600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5610225" y="295275"/>
            <a:ext cx="31051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讲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怎么想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的，不是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怎么做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</a:t>
            </a:r>
            <a:endParaRPr/>
          </a:p>
        </p:txBody>
      </p:sp>
      <p:sp>
        <p:nvSpPr>
          <p:cNvPr id="290" name="矩形: 圆角 289"/>
          <p:cNvSpPr/>
          <p:nvPr/>
        </p:nvSpPr>
        <p:spPr>
          <a:xfrm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1" name="文本框 290" descr="{&quot;isTemplate&quot;:true,&quot;type&quot;:&quot;text&quot;}"/>
          <p:cNvSpPr txBox="1"/>
          <p:nvPr/>
        </p:nvSpPr>
        <p:spPr>
          <a:xfrm>
            <a:off x="419100" y="1181100"/>
            <a:ext cx="113538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一句话思路：不发明新模型，而是把已有成熟模型工程化成可控实验平台，用它把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质量边界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这个尚未被系统回答的问题回答掉。</a:t>
            </a:r>
            <a:endParaRPr/>
          </a:p>
        </p:txBody>
      </p:sp>
      <p:sp>
        <p:nvSpPr>
          <p:cNvPr id="292" name="矩形: 圆角 291"/>
          <p:cNvSpPr/>
          <p:nvPr/>
        </p:nvSpPr>
        <p:spPr>
          <a:xfrm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400050" y="2143125"/>
            <a:ext cx="1238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矩形: 圆角 293"/>
          <p:cNvSpPr/>
          <p:nvPr/>
        </p:nvSpPr>
        <p:spPr>
          <a:xfrm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895350" y="2171700"/>
            <a:ext cx="1093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已有成熟模型表现已经够好（秒级参考音即可生成可懂语音）→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那就不需要自己训模型</a:t>
            </a:r>
            <a:endParaRPr/>
          </a:p>
        </p:txBody>
      </p:sp>
      <p:sp>
        <p:nvSpPr>
          <p:cNvPr id="296" name="矩形: 圆角 295"/>
          <p:cNvSpPr/>
          <p:nvPr/>
        </p:nvSpPr>
        <p:spPr>
          <a:xfrm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7" name="文本框 296" descr="{&quot;isTemplate&quot;:true,&quot;type&quot;:&quot;text&quot;}"/>
          <p:cNvSpPr txBox="1"/>
          <p:nvPr/>
        </p:nvSpPr>
        <p:spPr>
          <a:xfrm>
            <a:off x="400050" y="2809875"/>
            <a:ext cx="1238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矩形: 圆角 297"/>
          <p:cNvSpPr/>
          <p:nvPr/>
        </p:nvSpPr>
        <p:spPr>
          <a:xfrm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895350" y="2838450"/>
            <a:ext cx="1093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问题于是变成：「到底给它多少参考音才够？」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←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这才是缺系统答案的地方</a:t>
            </a:r>
            <a:endParaRPr/>
          </a:p>
        </p:txBody>
      </p:sp>
      <p:sp>
        <p:nvSpPr>
          <p:cNvPr id="300" name="矩形: 圆角 299"/>
          <p:cNvSpPr/>
          <p:nvPr/>
        </p:nvSpPr>
        <p:spPr>
          <a:xfrm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1" name="文本框 300" descr="{&quot;isTemplate&quot;:true,&quot;type&quot;:&quot;text&quot;}"/>
          <p:cNvSpPr txBox="1"/>
          <p:nvPr/>
        </p:nvSpPr>
        <p:spPr>
          <a:xfrm>
            <a:off x="400050" y="3476625"/>
            <a:ext cx="1238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矩形: 圆角 301"/>
          <p:cNvSpPr/>
          <p:nvPr/>
        </p:nvSpPr>
        <p:spPr>
          <a:xfrm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3" name="文本框 302" descr="{&quot;isTemplate&quot;:true,&quot;type&quot;:&quot;text&quot;}"/>
          <p:cNvSpPr txBox="1"/>
          <p:nvPr/>
        </p:nvSpPr>
        <p:spPr>
          <a:xfrm>
            <a:off x="895350" y="3505200"/>
            <a:ext cx="1093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要回答它，必须排除混淆因素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控制变量：同一说话人、同一麦克风、同一房间，只改变参考音时长</a:t>
            </a:r>
            <a:endParaRPr/>
          </a:p>
        </p:txBody>
      </p:sp>
      <p:sp>
        <p:nvSpPr>
          <p:cNvPr id="304" name="矩形: 圆角 303"/>
          <p:cNvSpPr/>
          <p:nvPr/>
        </p:nvSpPr>
        <p:spPr>
          <a:xfrm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5" name="文本框 304" descr="{&quot;isTemplate&quot;:true,&quot;type&quot;:&quot;text&quot;}"/>
          <p:cNvSpPr txBox="1"/>
          <p:nvPr/>
        </p:nvSpPr>
        <p:spPr>
          <a:xfrm>
            <a:off x="400050" y="4143375"/>
            <a:ext cx="1238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矩形: 圆角 305"/>
          <p:cNvSpPr/>
          <p:nvPr/>
        </p:nvSpPr>
        <p:spPr>
          <a:xfrm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7" name="文本框 306" descr="{&quot;isTemplate&quot;:true,&quot;type&quot;:&quot;text&quot;}"/>
          <p:cNvSpPr txBox="1"/>
          <p:nvPr/>
        </p:nvSpPr>
        <p:spPr>
          <a:xfrm>
            <a:off x="895350" y="4171950"/>
            <a:ext cx="1093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所以要做的是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测量平台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+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严格协议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，而不是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更大的模型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或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更炫的界面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8" name="矩形: 圆角 307"/>
          <p:cNvSpPr/>
          <p:nvPr/>
        </p:nvSpPr>
        <p:spPr>
          <a:xfrm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400050" y="4810125"/>
            <a:ext cx="1238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矩形: 圆角 309"/>
          <p:cNvSpPr/>
          <p:nvPr/>
        </p:nvSpPr>
        <p:spPr>
          <a:xfrm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895350" y="4838700"/>
            <a:ext cx="1093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输出一个诚实的答案：录多久就够；并把它固化为自动质量门禁，反哺产品</a:t>
            </a:r>
            <a:endParaRPr/>
          </a:p>
        </p:txBody>
      </p:sp>
      <p:sp>
        <p:nvSpPr>
          <p:cNvPr id="312" name="矩形: 圆角 311"/>
          <p:cNvSpPr/>
          <p:nvPr/>
        </p:nvSpPr>
        <p:spPr>
          <a:xfrm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3" name="任意多边形: 形状 312"/>
          <p:cNvSpPr/>
          <p:nvPr/>
        </p:nvSpPr>
        <p:spPr>
          <a:xfrm>
            <a:off x="295275" y="5476875"/>
            <a:ext cx="11696700" cy="561975"/>
          </a:xfrm>
          <a:custGeom>
            <a:avLst/>
            <a:gdLst/>
            <a:ahLst/>
            <a:cxnLst/>
            <a:rect l="0" t="0" r="0" b="0"/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428625" y="5610225"/>
            <a:ext cx="11382375" cy="2952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这个思路的价值在于：把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能不能用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（可以用数据回答）——后者的结论是可复现、可验证、可被他人使用的。</a:t>
            </a:r>
            <a:endParaRPr/>
          </a:p>
        </p:txBody>
      </p:sp>
      <p:sp>
        <p:nvSpPr>
          <p:cNvPr id="315" name="文本框 314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矩形 16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3648075" y="219075"/>
            <a:ext cx="29337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6734175" y="295275"/>
            <a:ext cx="21907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矩形: 圆角 19"/>
          <p:cNvSpPr/>
          <p:nvPr/>
        </p:nvSpPr>
        <p:spPr>
          <a:xfrm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381000" y="1143000"/>
            <a:ext cx="35528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381000" y="1409700"/>
            <a:ext cx="35528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，复现质量如何变化？收益在何处饱和？</a:t>
            </a:r>
            <a:endParaRPr/>
          </a:p>
        </p:txBody>
      </p:sp>
      <p:sp>
        <p:nvSpPr>
          <p:cNvPr id="23" name="矩形: 圆角 22"/>
          <p:cNvSpPr/>
          <p:nvPr/>
        </p:nvSpPr>
        <p:spPr>
          <a:xfrm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4314825" y="1143000"/>
            <a:ext cx="3562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4314825" y="1409700"/>
            <a:ext cx="35623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矩形: 圆角 25"/>
          <p:cNvSpPr/>
          <p:nvPr/>
        </p:nvSpPr>
        <p:spPr>
          <a:xfrm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文本框 26" descr="{&quot;isTemplate&quot;:true,&quot;type&quot;:&quot;text&quot;}"/>
          <p:cNvSpPr txBox="1"/>
          <p:nvPr/>
        </p:nvSpPr>
        <p:spPr>
          <a:xfrm>
            <a:off x="8258175" y="1143000"/>
            <a:ext cx="35528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8258175" y="1409700"/>
            <a:ext cx="35528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）相关性如何？能否用客观指标做自动门禁？</a:t>
            </a:r>
            <a:endParaRPr/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247650" y="2400300"/>
            <a:ext cx="11696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表格 29"/>
          <p:cNvGraphicFramePr/>
          <p:nvPr/>
        </p:nvGraphicFramePr>
        <p:xfrm>
          <a:off x="247650" y="2743200"/>
          <a:ext cx="11696700" cy="2209800"/>
        </p:xfrm>
        <a:graphic>
          <a:graphicData uri="http://schemas.openxmlformats.org/drawingml/2006/table">
            <a:tbl>
              <a:tblPr/>
              <a:tblGrid>
                <a:gridCol w="2364743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9331957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"/>
                  </a:ext>
                </a:extLst>
              </a:tr>
              <a:tr h="31568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"/>
                  </a:ext>
                </a:extLst>
              </a:tr>
            </a:tbl>
          </a:graphicData>
        </a:graphic>
      </p:graphicFrame>
      <p:sp>
        <p:nvSpPr>
          <p:cNvPr id="31" name="矩形: 圆角 30"/>
          <p:cNvSpPr/>
          <p:nvPr/>
        </p:nvSpPr>
        <p:spPr>
          <a:xfrm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文本框 31" descr="{&quot;isTemplate&quot;:true,&quot;type&quot;:&quot;text&quot;}"/>
          <p:cNvSpPr txBox="1"/>
          <p:nvPr/>
        </p:nvSpPr>
        <p:spPr>
          <a:xfrm>
            <a:off x="381000" y="5219700"/>
            <a:ext cx="114300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12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条件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= 192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个合成样本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+ 24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名听测被试。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★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档位定义是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对同一段录音按顺序截取前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N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这决定了必须由同一人在同一条件下一次录制完成，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这也是本项目不能使用公开语料替代的原因。实际录制时每人只需连续朗读约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65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秒。</a:t>
            </a:r>
            <a:endParaRPr/>
          </a:p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本项目主要研究对象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配音、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矩形 35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4238625" y="219075"/>
            <a:ext cx="29337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7324725" y="295275"/>
            <a:ext cx="10191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矩形: 圆角 38"/>
          <p:cNvSpPr/>
          <p:nvPr/>
        </p:nvSpPr>
        <p:spPr>
          <a:xfrm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任意多边形: 形状 39"/>
          <p:cNvSpPr/>
          <p:nvPr/>
        </p:nvSpPr>
        <p:spPr>
          <a:xfrm>
            <a:off x="190500" y="1000125"/>
            <a:ext cx="5848350" cy="4705350"/>
          </a:xfrm>
          <a:custGeom>
            <a:avLst/>
            <a:gdLst/>
            <a:ahLst/>
            <a:cxnLst/>
            <a:rect l="0" t="0" r="0" b="0"/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342900" y="1152525"/>
            <a:ext cx="55435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342900" y="1466850"/>
            <a:ext cx="5543550" cy="403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本项目主要研究对象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（属辅助沟通范畴，不涉及任何医疗用途声称）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教育教学场景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微课配音、课程音频的本地、离线生产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矩形: 圆角 42"/>
          <p:cNvSpPr/>
          <p:nvPr/>
        </p:nvSpPr>
        <p:spPr>
          <a:xfrm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任意多边形: 形状 43"/>
          <p:cNvSpPr/>
          <p:nvPr/>
        </p:nvSpPr>
        <p:spPr>
          <a:xfrm>
            <a:off x="6153150" y="1000125"/>
            <a:ext cx="5848350" cy="3295650"/>
          </a:xfrm>
          <a:custGeom>
            <a:avLst/>
            <a:gdLst/>
            <a:ahLst/>
            <a:cxnLst/>
            <a:rect l="0" t="0" r="0" b="0"/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文本框 44" descr="{&quot;isTemplate&quot;:true,&quot;type&quot;:&quot;text&quot;}"/>
          <p:cNvSpPr txBox="1"/>
          <p:nvPr/>
        </p:nvSpPr>
        <p:spPr>
          <a:xfrm>
            <a:off x="6305550" y="1152525"/>
            <a:ext cx="55435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6305550" y="1466850"/>
            <a:ext cx="5543550" cy="23717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代码已开源并采用插件化架构，第三方可做二次开发或场景适配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离线是刚性需求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师范生嗓音健康建档：学生基数大、需求真实、与专业培养相关</a:t>
            </a:r>
            <a:endParaRPr/>
          </a:p>
        </p:txBody>
      </p:sp>
      <p:sp>
        <p:nvSpPr>
          <p:cNvPr id="47" name="矩形: 圆角 46"/>
          <p:cNvSpPr/>
          <p:nvPr/>
        </p:nvSpPr>
        <p:spPr>
          <a:xfrm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6286500" y="4495800"/>
            <a:ext cx="55816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6286500" y="4743450"/>
            <a:ext cx="5581650" cy="7810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不承诺任何医疗效果；系统定位为声音的保存与辅助沟通，而非治疗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无障碍方向为在研模块，尚未完成产品化验证</a:t>
            </a:r>
            <a:endParaRPr/>
          </a:p>
        </p:txBody>
      </p:sp>
      <p:sp>
        <p:nvSpPr>
          <p:cNvPr id="50" name="矩形: 圆角 49"/>
          <p:cNvSpPr/>
          <p:nvPr/>
        </p:nvSpPr>
        <p:spPr>
          <a:xfrm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文本框 50" descr="{&quot;isTemplate&quot;:true,&quot;type&quot;:&quot;text&quot;}"/>
          <p:cNvSpPr txBox="1"/>
          <p:nvPr/>
        </p:nvSpPr>
        <p:spPr>
          <a:xfrm>
            <a:off x="285750" y="5848350"/>
            <a:ext cx="116205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结论的通用价值：本研究产出的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参考音时长—质量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数据与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客观指标能否替代听测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的结论，对任何使用少样本克隆的下游应用都有参考价值。</a:t>
            </a:r>
            <a:endParaRPr/>
          </a:p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矩形 54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3552825" y="219075"/>
            <a:ext cx="4267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7972425" y="295275"/>
            <a:ext cx="10477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表格 57"/>
          <p:cNvGraphicFramePr/>
          <p:nvPr/>
        </p:nvGraphicFramePr>
        <p:xfrm>
          <a:off x="247650" y="1009650"/>
          <a:ext cx="11696700" cy="3143250"/>
        </p:xfrm>
        <a:graphic>
          <a:graphicData uri="http://schemas.openxmlformats.org/drawingml/2006/table">
            <a:tbl>
              <a:tblPr/>
              <a:tblGrid>
                <a:gridCol w="950102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1535956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5420422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  <a:gridCol w="3790220">
                  <a:extLst>
                    <a:ext uri="{9D8B030D-6E8A-4147-A177-3AD203B41FA5}">
                      <a16:colId xmlns:a16="http://schemas.microsoft.com/office/drawing/2014/main" val="4"/>
                    </a:ext>
                  </a:extLst>
                </a:gridCol>
              </a:tblGrid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"/>
                  </a:ext>
                </a:extLst>
              </a:tr>
              <a:tr h="449036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"/>
                  </a:ext>
                </a:extLst>
              </a:tr>
            </a:tbl>
          </a:graphicData>
        </a:graphic>
      </p:graphicFrame>
      <p:sp>
        <p:nvSpPr>
          <p:cNvPr id="59" name="矩形: 圆角 58"/>
          <p:cNvSpPr/>
          <p:nvPr/>
        </p:nvSpPr>
        <p:spPr>
          <a:xfrm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任意多边形: 形状 59"/>
          <p:cNvSpPr/>
          <p:nvPr/>
        </p:nvSpPr>
        <p:spPr>
          <a:xfrm>
            <a:off x="295275" y="4286250"/>
            <a:ext cx="5781675" cy="1752600"/>
          </a:xfrm>
          <a:custGeom>
            <a:avLst/>
            <a:gdLst/>
            <a:ahLst/>
            <a:cxnLst/>
            <a:rect l="0" t="0" r="0" b="0"/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447675" y="4438650"/>
            <a:ext cx="54292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447675" y="4714875"/>
            <a:ext cx="5429250" cy="914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矩形: 圆角 62"/>
          <p:cNvSpPr/>
          <p:nvPr/>
        </p:nvSpPr>
        <p:spPr>
          <a:xfrm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6315075" y="4724400"/>
            <a:ext cx="547687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6315075" y="5000625"/>
            <a:ext cx="5476875" cy="6096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校级合格标准：软著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调研报告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论文（前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作者）三者任一即可。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本项目具备双保险——已有可登记系统，且研究问题明确具备撰写条件。</a:t>
            </a:r>
            <a:endParaRPr/>
          </a:p>
        </p:txBody>
      </p:sp>
      <p:sp>
        <p:nvSpPr>
          <p:cNvPr id="66" name="文本框 65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矩形 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762000" y="2000250"/>
            <a:ext cx="10668000" cy="1371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762000" y="3409950"/>
            <a:ext cx="1066800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矩形 70"/>
          <p:cNvSpPr/>
          <p:nvPr/>
        </p:nvSpPr>
        <p:spPr>
          <a:xfrm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文本框 71" descr="{&quot;isTemplate&quot;:true,&quot;type&quot;:&quot;text&quot;}"/>
          <p:cNvSpPr txBox="1"/>
          <p:nvPr/>
        </p:nvSpPr>
        <p:spPr>
          <a:xfrm>
            <a:off x="762000" y="4429125"/>
            <a:ext cx="10668000" cy="4286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项：项目开展情况（现有结论、已有成果、预期成果）。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49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1,187 + 404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1559 行 + 99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手机扫码盲听（listen.html）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 7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5" name="矩形 74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文本框 75" descr="{&quot;isTemplate&quot;:true,&quot;type&quot;:&quot;text&quot;}"/>
          <p:cNvSpPr txBox="1"/>
          <p:nvPr/>
        </p:nvSpPr>
        <p:spPr>
          <a:xfrm>
            <a:off x="3829050" y="219075"/>
            <a:ext cx="32004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文本框 76" descr="{&quot;isTemplate&quot;:true,&quot;type&quot;:&quot;text&quot;}"/>
          <p:cNvSpPr txBox="1"/>
          <p:nvPr/>
        </p:nvSpPr>
        <p:spPr>
          <a:xfrm>
            <a:off x="7181850" y="295275"/>
            <a:ext cx="15716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78" name="矩形: 圆角 77"/>
          <p:cNvSpPr/>
          <p:nvPr/>
        </p:nvSpPr>
        <p:spPr>
          <a:xfrm>
            <a:off x="247650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381000" y="1219200"/>
            <a:ext cx="2562225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37,872</a:t>
            </a:r>
            <a:endParaRPr/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381000" y="1600200"/>
            <a:ext cx="25622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后端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 Python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1" name="矩形: 圆角 80"/>
          <p:cNvSpPr/>
          <p:nvPr/>
        </p:nvSpPr>
        <p:spPr>
          <a:xfrm>
            <a:off x="3209925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3343275" y="1219200"/>
            <a:ext cx="25527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40,169</a:t>
            </a:r>
            <a:endParaRPr/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3343275" y="1600200"/>
            <a:ext cx="25527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前端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> TS / TSX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4" name="矩形: 圆角 83"/>
          <p:cNvSpPr/>
          <p:nvPr/>
        </p:nvSpPr>
        <p:spPr>
          <a:xfrm>
            <a:off x="6162675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6296025" y="1219200"/>
            <a:ext cx="2562225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2,847</a:t>
            </a:r>
            <a:endParaRPr/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6296025" y="1600200"/>
            <a:ext cx="25622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自动化测试用例（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102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文件）</a:t>
            </a:r>
            <a:endParaRPr/>
          </a:p>
        </p:txBody>
      </p:sp>
      <p:sp>
        <p:nvSpPr>
          <p:cNvPr id="87" name="矩形: 圆角 86"/>
          <p:cNvSpPr/>
          <p:nvPr/>
        </p:nvSpPr>
        <p:spPr>
          <a:xfrm>
            <a:off x="9124950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9258300" y="1219200"/>
            <a:ext cx="25527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A2230"/>
                </a:solidFill>
                <a:latin typeface="Microsoft YaHei"/>
                <a:ea typeface="Microsoft YaHei"/>
              </a:rPr>
              <a:t>27</a:t>
            </a:r>
            <a:endParaRPr/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9258300" y="1600200"/>
            <a:ext cx="25527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能力插件（含声音保存插件族）</a:t>
            </a:r>
            <a:endParaRPr/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247650" y="2095500"/>
            <a:ext cx="11696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与本项目直接相关的既有能力</a:t>
            </a:r>
            <a:endParaRPr/>
          </a:p>
        </p:txBody>
      </p:sp>
      <p:graphicFrame>
        <p:nvGraphicFramePr>
          <p:cNvPr id="91" name="表格 90"/>
          <p:cNvGraphicFramePr/>
          <p:nvPr/>
        </p:nvGraphicFramePr>
        <p:xfrm>
          <a:off x="247650" y="2438400"/>
          <a:ext cx="11696700" cy="2324100"/>
        </p:xfrm>
        <a:graphic>
          <a:graphicData uri="http://schemas.openxmlformats.org/drawingml/2006/table">
            <a:tbl>
              <a:tblPr/>
              <a:tblGrid>
                <a:gridCol w="2843443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5863029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2990228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</a:tblGrid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 / 状态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声音档案存储与门禁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voicepreserve.py + voicepreserve_api.py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1,187 + 404 行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评测引擎 ★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voicebank_eval.py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1559 行 + 99 个测试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客观指标计算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已实现并测试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盲听平台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手机扫码盲听（listen.html）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失败判词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质量不达标时给出具体原因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"/>
                  </a:ext>
                </a:extLst>
              </a:tr>
              <a:tr h="332014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实验协议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《嗓音保存评测协议》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已撰写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"/>
                  </a:ext>
                </a:extLst>
              </a:tr>
            </a:tbl>
          </a:graphicData>
        </a:graphic>
      </p:graphicFrame>
      <p:sp>
        <p:nvSpPr>
          <p:cNvPr id="92" name="矩形: 圆角 91"/>
          <p:cNvSpPr/>
          <p:nvPr/>
        </p:nvSpPr>
        <p:spPr>
          <a:xfrm>
            <a:off x="295275" y="4895850"/>
            <a:ext cx="11696700" cy="819150"/>
          </a:xfrm>
          <a:prstGeom prst="roundRect">
            <a:avLst>
              <a:gd name="adj" fmla="val 11628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3" name="任意多边形: 形状 92"/>
          <p:cNvSpPr/>
          <p:nvPr/>
        </p:nvSpPr>
        <p:spPr>
          <a:xfrm>
            <a:off x="295275" y="4895850"/>
            <a:ext cx="11696700" cy="819150"/>
          </a:xfrm>
          <a:custGeom>
            <a:avLst/>
            <a:gdLst/>
            <a:ahLst/>
            <a:cxnLst/>
            <a:rect l="0" t="0" r="0" b="0"/>
            <a:pathLst>
              <a:path w="1228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428625" y="5029200"/>
            <a:ext cx="11382375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说明：以上为本项目的前期工作积累，是项目可行性的直接证据，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属于项目的前提条件，不是本项目的研究产出。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工程化配套齐全：完整的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门禁、发布流程、插件化架构，</a:t>
            </a:r>
            <a:r>
              <a:rPr lang="zh-CN" altLang="en-US" sz="1050">
                <a:solidFill>
                  <a:srgbClr val="1A2230"/>
                </a:solidFill>
                <a:latin typeface="Microsoft YaHei"/>
                <a:ea typeface="Microsoft YaHei"/>
              </a:rPr>
              <a:t>代码已在 </a:t>
            </a:r>
            <a:r>
              <a:rPr lang="en-US" altLang="zh-CN" sz="1050">
                <a:solidFill>
                  <a:srgbClr val="1A2230"/>
                </a:solidFill>
                <a:latin typeface="Microsoft YaHei"/>
                <a:ea typeface="Microsoft YaHei"/>
              </a:rPr>
              <a:t>GitHub </a:t>
            </a:r>
            <a:r>
              <a:rPr lang="zh-CN" altLang="en-US" sz="1050">
                <a:solidFill>
                  <a:srgbClr val="1A2230"/>
                </a:solidFill>
                <a:latin typeface="Microsoft YaHei"/>
                <a:ea typeface="Microsoft YaHei"/>
              </a:rPr>
              <a:t>开源。另有四项配套能力亦已落地：音频溯源水印、盲听评测平台、声音档案纵向随访、讲稿驱动录课。</a:t>
            </a:r>
            <a:endParaRPr/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30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8" name="矩形 97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9" name="文本框 98" descr="{&quot;isTemplate&quot;:true,&quot;type&quot;:&quot;text&quot;}"/>
          <p:cNvSpPr txBox="1"/>
          <p:nvPr/>
        </p:nvSpPr>
        <p:spPr>
          <a:xfrm>
            <a:off x="4133850" y="219075"/>
            <a:ext cx="1600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5886450" y="295275"/>
            <a:ext cx="2552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矩形: 圆角 100"/>
          <p:cNvSpPr/>
          <p:nvPr/>
        </p:nvSpPr>
        <p:spPr>
          <a:xfrm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2" name="任意多边形: 形状 101"/>
          <p:cNvSpPr/>
          <p:nvPr/>
        </p:nvSpPr>
        <p:spPr>
          <a:xfrm>
            <a:off x="295275" y="1009650"/>
            <a:ext cx="11696700" cy="561975"/>
          </a:xfrm>
          <a:custGeom>
            <a:avLst/>
            <a:gdLst/>
            <a:ahLst/>
            <a:cxnLst/>
            <a:rect l="0" t="0" r="0" b="0"/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428625" y="1143000"/>
            <a:ext cx="11382375" cy="2952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区分：「已有成果」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我们做出来了什么；「现有结论」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我们从中学到了什么。以下每条标注证据强度。</a:t>
            </a:r>
            <a:endParaRPr/>
          </a:p>
        </p:txBody>
      </p:sp>
      <p:graphicFrame>
        <p:nvGraphicFramePr>
          <p:cNvPr id="104" name="表格 103"/>
          <p:cNvGraphicFramePr/>
          <p:nvPr/>
        </p:nvGraphicFramePr>
        <p:xfrm>
          <a:off x="247650" y="1704975"/>
          <a:ext cx="11696700" cy="1905000"/>
        </p:xfrm>
        <a:graphic>
          <a:graphicData uri="http://schemas.openxmlformats.org/drawingml/2006/table">
            <a:tbl>
              <a:tblPr/>
              <a:tblGrid>
                <a:gridCol w="254633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5100878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3594983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  <a:gridCol w="2746206">
                  <a:extLst>
                    <a:ext uri="{9D8B030D-6E8A-4147-A177-3AD203B41FA5}">
                      <a16:colId xmlns:a16="http://schemas.microsoft.com/office/drawing/2014/main" val="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300 ms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</a:tbl>
          </a:graphicData>
        </a:graphic>
      </p:graphicFrame>
      <p:sp>
        <p:nvSpPr>
          <p:cNvPr id="105" name="矩形: 圆角 104"/>
          <p:cNvSpPr/>
          <p:nvPr/>
        </p:nvSpPr>
        <p:spPr>
          <a:xfrm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400050" y="3895725"/>
            <a:ext cx="11391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400050" y="4191000"/>
            <a:ext cx="11391900" cy="1219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矩形: 圆角 107"/>
          <p:cNvSpPr/>
          <p:nvPr/>
        </p:nvSpPr>
        <p:spPr>
          <a:xfrm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9" name="任意多边形: 形状 108"/>
          <p:cNvSpPr/>
          <p:nvPr/>
        </p:nvSpPr>
        <p:spPr>
          <a:xfrm>
            <a:off x="295275" y="5695950"/>
            <a:ext cx="11696700" cy="542925"/>
          </a:xfrm>
          <a:custGeom>
            <a:avLst/>
            <a:gdLst/>
            <a:ahLst/>
            <a:cxnLst/>
            <a:rect l="0" t="0" r="0" b="0"/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428625" y="5829300"/>
            <a:ext cx="1138237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我们主动说明：现有结论主要来自工程链路验证，尚未获得任何来自正式实验的质量数据。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这既是本项目的立项理由，也是我们对研究边界保持清醒的体现。</a:t>
            </a:r>
            <a:endParaRPr/>
          </a:p>
        </p:txBody>
      </p:sp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矩形 1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4" name="矩形 113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4638675" y="219075"/>
            <a:ext cx="1600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6391275" y="295275"/>
            <a:ext cx="15525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矩形: 圆角 116"/>
          <p:cNvSpPr/>
          <p:nvPr/>
        </p:nvSpPr>
        <p:spPr>
          <a:xfrm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419100" y="1181100"/>
            <a:ext cx="54387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419100" y="1524000"/>
            <a:ext cx="5438775" cy="3124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12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名被试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档参考音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种文本条件的客观评测结果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主观评测结论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篇（或校级结题研究报告）</a:t>
            </a:r>
            <a:endParaRPr/>
          </a:p>
        </p:txBody>
      </p:sp>
      <p:sp>
        <p:nvSpPr>
          <p:cNvPr id="120" name="矩形: 圆角 119"/>
          <p:cNvSpPr/>
          <p:nvPr/>
        </p:nvSpPr>
        <p:spPr>
          <a:xfrm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1" name="任意多边形: 形状 120"/>
          <p:cNvSpPr/>
          <p:nvPr/>
        </p:nvSpPr>
        <p:spPr>
          <a:xfrm>
            <a:off x="6210300" y="1009650"/>
            <a:ext cx="5781675" cy="1905000"/>
          </a:xfrm>
          <a:custGeom>
            <a:avLst/>
            <a:gdLst/>
            <a:ahLst/>
            <a:cxnLst/>
            <a:rect l="0" t="0" r="0" b="0"/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6381750" y="1181100"/>
            <a:ext cx="53911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6381750" y="1524000"/>
            <a:ext cx="5391150" cy="9429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一套自动质量门禁功能升级（反哺现有系统）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完整的评测协议与流水线文档（可复现）</a:t>
            </a:r>
            <a:endParaRPr/>
          </a:p>
        </p:txBody>
      </p:sp>
      <p:sp>
        <p:nvSpPr>
          <p:cNvPr id="124" name="矩形: 圆角 123"/>
          <p:cNvSpPr/>
          <p:nvPr/>
        </p:nvSpPr>
        <p:spPr>
          <a:xfrm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5" name="任意多边形: 形状 124"/>
          <p:cNvSpPr/>
          <p:nvPr/>
        </p:nvSpPr>
        <p:spPr>
          <a:xfrm>
            <a:off x="6210300" y="3048000"/>
            <a:ext cx="5781675" cy="1905000"/>
          </a:xfrm>
          <a:custGeom>
            <a:avLst/>
            <a:gdLst/>
            <a:ahLst/>
            <a:cxnLst/>
            <a:rect l="0" t="0" r="0" b="0"/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6" name="文本框 125" descr="{&quot;isTemplate&quot;:true,&quot;type&quot;:&quot;text&quot;}"/>
          <p:cNvSpPr txBox="1"/>
          <p:nvPr/>
        </p:nvSpPr>
        <p:spPr>
          <a:xfrm>
            <a:off x="6381750" y="3219450"/>
            <a:ext cx="53911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6381750" y="3562350"/>
            <a:ext cx="5391150" cy="9429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知情同意流程与本地克隆审计日志（只追加：谁、何时、对谁的档案做了什么）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把伦理做成设计约束，而不是口号</a:t>
            </a:r>
            <a:endParaRPr/>
          </a:p>
        </p:txBody>
      </p:sp>
      <p:sp>
        <p:nvSpPr>
          <p:cNvPr id="128" name="矩形: 圆角 127"/>
          <p:cNvSpPr/>
          <p:nvPr/>
        </p:nvSpPr>
        <p:spPr>
          <a:xfrm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400050" y="5238750"/>
            <a:ext cx="113919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结项达标路径（三选一）：校级合格标准为软著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调研报告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论文（前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作者）三者任一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——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本项目已有可登记的系统与评测引擎，具备双保险。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成果发表时学生为第一作者，并标注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大学生创新创业训练计划资助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+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项目编号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0" name="文本框 129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矩形 1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3" name="矩形 132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4410075" y="219075"/>
            <a:ext cx="16002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文本框 134" descr="{&quot;isTemplate&quot;:true,&quot;type&quot;:&quot;text&quot;}"/>
          <p:cNvSpPr txBox="1"/>
          <p:nvPr/>
        </p:nvSpPr>
        <p:spPr>
          <a:xfrm>
            <a:off x="6162675" y="295275"/>
            <a:ext cx="20097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表格 135"/>
          <p:cNvGraphicFramePr/>
          <p:nvPr/>
        </p:nvGraphicFramePr>
        <p:xfrm>
          <a:off x="247650" y="1009650"/>
          <a:ext cx="11696700" cy="3238500"/>
        </p:xfrm>
        <a:graphic>
          <a:graphicData uri="http://schemas.openxmlformats.org/drawingml/2006/table">
            <a:tbl>
              <a:tblPr/>
              <a:tblGrid>
                <a:gridCol w="366631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2120939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7640109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  <a:gridCol w="1569021">
                  <a:extLst>
                    <a:ext uri="{9D8B030D-6E8A-4147-A177-3AD203B41FA5}">
                      <a16:colId xmlns:a16="http://schemas.microsoft.com/office/drawing/2014/main" val="4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"/>
                  </a:ext>
                </a:extLst>
              </a:tr>
            </a:tbl>
          </a:graphicData>
        </a:graphic>
      </p:graphicFrame>
      <p:sp>
        <p:nvSpPr>
          <p:cNvPr id="137" name="矩形: 圆角 136"/>
          <p:cNvSpPr/>
          <p:nvPr/>
        </p:nvSpPr>
        <p:spPr>
          <a:xfrm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8" name="任意多边形: 形状 137"/>
          <p:cNvSpPr/>
          <p:nvPr/>
        </p:nvSpPr>
        <p:spPr>
          <a:xfrm>
            <a:off x="295275" y="4381500"/>
            <a:ext cx="11696700" cy="981075"/>
          </a:xfrm>
          <a:custGeom>
            <a:avLst/>
            <a:gdLst/>
            <a:ahLst/>
            <a:cxnLst/>
            <a:rect l="0" t="0" r="0" b="0"/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447675" y="4533900"/>
            <a:ext cx="11344275" cy="3143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预算说明：本项目以软件与数据研究为主，设备投入低；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主要开支为被试劳务、材料与成果发表。具体额度以系统填报时的实际额度为准，按学校规定如实申报使用。</a:t>
            </a:r>
            <a:endParaRPr/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447675" y="4924425"/>
            <a:ext cx="11344275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>⚠️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说明：本项目已具备可用的消费级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> GPU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，无需大额硬件采购，预算聚焦劳务与发表。</a:t>
            </a:r>
            <a:endParaRPr/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矩形 1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4" name="矩形 143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4219575" y="219075"/>
            <a:ext cx="18669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6238875" y="295275"/>
            <a:ext cx="21240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表格 146"/>
          <p:cNvGraphicFramePr/>
          <p:nvPr/>
        </p:nvGraphicFramePr>
        <p:xfrm>
          <a:off x="247650" y="1009650"/>
          <a:ext cx="11696700" cy="2857500"/>
        </p:xfrm>
        <a:graphic>
          <a:graphicData uri="http://schemas.openxmlformats.org/drawingml/2006/table">
            <a:tbl>
              <a:tblPr/>
              <a:tblGrid>
                <a:gridCol w="518478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1350604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6396699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  <a:gridCol w="3430918">
                  <a:extLst>
                    <a:ext uri="{9D8B030D-6E8A-4147-A177-3AD203B41FA5}">
                      <a16:colId xmlns:a16="http://schemas.microsoft.com/office/drawing/2014/main" val="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总体方案设计；实验平台与评测流水线实现；自动质量门禁；数据统计分析；申报与结题材料统筹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被试招募与沟通；知情同意流程执行；录音 SOP 制定与执行；录音质量筛查；评测语料集整理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听测方案设计；听测平台配置（随机化、盲听）；24 名听测者组织与实施；评分表收集与一致性检验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国内外研究现状调研；与 Apple Personal Voice / 传统声音银行 / 云端克隆的对比分析；参考文献管理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</a:tbl>
          </a:graphicData>
        </a:graphic>
      </p:graphicFrame>
      <p:sp>
        <p:nvSpPr>
          <p:cNvPr id="148" name="矩形: 圆角 147"/>
          <p:cNvSpPr/>
          <p:nvPr/>
        </p:nvSpPr>
        <p:spPr>
          <a:xfrm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9" name="任意多边形: 形状 148"/>
          <p:cNvSpPr/>
          <p:nvPr/>
        </p:nvSpPr>
        <p:spPr>
          <a:xfrm>
            <a:off x="295275" y="4000500"/>
            <a:ext cx="5781675" cy="2038350"/>
          </a:xfrm>
          <a:custGeom>
            <a:avLst/>
            <a:gdLst/>
            <a:ahLst/>
            <a:cxnLst/>
            <a:rect l="0" t="0" r="0" b="0"/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447675" y="4152900"/>
            <a:ext cx="54292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447675" y="4448175"/>
            <a:ext cx="5429250" cy="914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姓名：＿＿＿＿＿＿　职称：＿＿＿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矩形: 圆角 151"/>
          <p:cNvSpPr/>
          <p:nvPr/>
        </p:nvSpPr>
        <p:spPr>
          <a:xfrm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6315075" y="4600575"/>
            <a:ext cx="54768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6315075" y="4867275"/>
            <a:ext cx="5476875" cy="5810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按研究链条划分，四人的职责互相衔接且均有独立产出；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每人对应明确可交付物，不设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协助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类虚职。</a:t>
            </a:r>
            <a:endParaRPr/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381000" y="6486525"/>
            <a:ext cx="11811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职业用嗓人群的本地声音保存与少样本复现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矩形 15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762000" y="1571625"/>
            <a:ext cx="10668000" cy="6762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矩形 158"/>
          <p:cNvSpPr/>
          <p:nvPr/>
        </p:nvSpPr>
        <p:spPr>
          <a:xfrm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0" name="矩形: 圆角 159"/>
          <p:cNvSpPr/>
          <p:nvPr/>
        </p:nvSpPr>
        <p:spPr>
          <a:xfrm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952500" y="2962275"/>
            <a:ext cx="10287000" cy="1181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项目名称：面向职业用嗓人群的本地声音保存与少样本复现质量边界研究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项目负责人：牟旭　　团队成员：李河璋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指导教师：＿＿＿＿＿＿　　所在学院：＿＿＿＿＿＿</a:t>
            </a:r>
            <a:endParaRPr/>
          </a:p>
        </p:txBody>
      </p:sp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762000" y="4581525"/>
            <a:ext cx="10668000" cy="704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所有语音数据全程在本地处理，不上传任何服务器。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本项目为研究训练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+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系统集成创新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+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场景落地，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不宣称医疗效果，不使用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首次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/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领先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 /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唯一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等表述。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5071</Words>
  <Application>Microsoft Office PowerPoint</Application>
  <PresentationFormat>宽屏</PresentationFormat>
  <Paragraphs>397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mouxu</cp:lastModifiedBy>
  <cp:revision>1</cp:revision>
  <dcterms:created xsi:type="dcterms:W3CDTF">2026-10-04T13:06:38Z</dcterms:created>
  <dcterms:modified xsi:type="dcterms:W3CDTF">2026-10-05T11:06:09Z</dcterms:modified>
</cp:coreProperties>
</file>