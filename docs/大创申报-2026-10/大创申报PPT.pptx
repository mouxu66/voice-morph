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slides/slide17.xml" ContentType="application/vnd.openxmlformats-officedocument.presentationml.slid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7" Type="http://schemas.openxmlformats.org/officeDocument/2006/relationships/slide" Target="slides/slide17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2" Type="http://schemas.openxmlformats.org/officeDocument/2006/relationships/slide" Target="slides/slide2.xml" /><Relationship Id="rId20" Type="http://schemas.openxmlformats.org/officeDocument/2006/relationships/notesMaster" Target="notesMasters/notesMaster1.xml" 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LOCAL VOICE PRESERVATION · FEW-SHOT REPRODUCTION QUALITY BOUNDARY&lt;/Text&gt;&#10;    &lt;Text style={{ fontSize: 42, color: '#0E3F8C', fontWeight: 'bold', marginTop: 16, lineHeight: 1.3 }}&gt;面向职业用嗓人群的本地声音保存&lt;br /&gt;与少样本复现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428625"/>
            <a:ext cx="1158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1582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LOCAL VOICE PRESERVATION · FEW-SHOT REPRODUCTION QUALITY BOUNDARY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847975"/>
            <a:ext cx="109728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面向职业用嗓人群的本地声音保存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与少样本复现质量边界研究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0" y="5429250"/>
            <a:ext cx="12192000" cy="1428750"/>
          </a:xfrm>
          <a:custGeom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590550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牟旭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09800" y="5905500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6670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24400" y="621030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12192000" cy="857250"/>
          </a:xfrm>
          <a:custGeom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" y="123825"/>
            <a:ext cx="11734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" y="533400"/>
            <a:ext cx="1173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严格对照官方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创新类项目进展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PPT"5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项要求逐条组织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352425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23875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23875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23875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267200" y="1162050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438650" y="1333500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438650" y="1676400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38650" y="1943100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8172450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43900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43900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343900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352425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23875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3875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3875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4267200" y="3495675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438650" y="3667125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438650" y="4010025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438650" y="4276725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8172450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43900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343900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343900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7200" y="6115050"/>
            <a:ext cx="1173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179070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4219575"/>
            <a:ext cx="10668000" cy="847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自我评述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职业用嗓人群&lt;/Text&gt;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保存与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26720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19800" y="295275"/>
            <a:ext cx="2295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61950" y="1066800"/>
            <a:ext cx="11582400" cy="1495425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361950" y="1066800"/>
            <a:ext cx="11582400" cy="1495425"/>
          </a:xfrm>
          <a:custGeom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90550" y="1295400"/>
            <a:ext cx="1106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609725"/>
            <a:ext cx="1106805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面向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（教师、师范生、播音主持、客服等）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不可逆嗓音损失的风险，研究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本地离线、秒级参考音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条件下的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声音保存与复现质量边界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问题——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给克隆系统多少秒参考音，才能复现出可接受的声音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并回答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客观声学指标能否替代人工听测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这一方法论问题。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04800" y="2733675"/>
            <a:ext cx="5705475" cy="243840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95300" y="2924175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✕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我们不做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95300" y="3238500"/>
            <a:ext cx="5324475" cy="139065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不发明新的大模型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不追求模型层面的原创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产品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商业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叙事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不宣称任何医疗效果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2733675"/>
            <a:ext cx="5705475" cy="2438400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2924175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我们做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372225" y="3238500"/>
            <a:ext cx="5324475" cy="174307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把已有成熟模型工程化为</a:t>
            </a:r>
            <a:endParaRPr/>
          </a:p>
          <a:p>
            <a:pPr>
              <a:lnSpc>
                <a:spcPct val="19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可控、可复现的实验平台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用严格协议测量「质量—代价」</a:t>
            </a:r>
            <a:endParaRPr/>
          </a:p>
          <a:p>
            <a:pPr>
              <a:lnSpc>
                <a:spcPct val="19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　的真实关系</a:t>
            </a:r>
            <a:endParaRPr/>
          </a:p>
          <a:p>
            <a:pPr>
              <a:lnSpc>
                <a:spcPct val="19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把测量结果反哺为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304800" y="5343525"/>
            <a:ext cx="11582400" cy="676275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76250" y="5514975"/>
            <a:ext cx="1123950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核心价值：把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能不能用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 xml:space="preserve"> 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（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用数据回答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24350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43650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57200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57200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71975" y="1238250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77225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77225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04800" y="2343150"/>
            <a:ext cx="1158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"/>
          <p:cNvGraphicFramePr/>
          <p:nvPr/>
        </p:nvGraphicFramePr>
        <p:xfrm rot="0" flipH="0" flipV="0">
          <a:off x="304800" y="2714625"/>
          <a:ext cx="11582400" cy="1866900"/>
        </p:xfrm>
        <a:graphic>
          <a:graphicData uri="http://schemas.openxmlformats.org/drawingml/2006/table">
            <a:tbl>
              <a:tblGrid>
                <a:gridCol w="4675204">
                  <a:extLst>
                    <a:ext uri="{9D8B030D-6E8A-4147-A177-3AD203B41FA5}">
                      <a16:colId val="1"/>
                    </a:ext>
                  </a:extLst>
                </a:gridCol>
                <a:gridCol w="2752160">
                  <a:extLst>
                    <a:ext uri="{9D8B030D-6E8A-4147-A177-3AD203B41FA5}">
                      <a16:colId val="2"/>
                    </a:ext>
                  </a:extLst>
                </a:gridCol>
                <a:gridCol w="415503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239" name=""/>
          <p:cNvSpPr/>
          <p:nvPr/>
        </p:nvSpPr>
        <p:spPr>
          <a:xfrm rot="0" flipH="0" flipV="0"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52425" y="4733925"/>
            <a:ext cx="11582400" cy="990600"/>
          </a:xfrm>
          <a:custGeom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04825" y="4886325"/>
            <a:ext cx="1122997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"Windows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上没人做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，而是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离线可用性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对行动受限或处于无网环境的人群，联网方案在结构上就不适用。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而在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本地离线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秒级参考音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这一格中，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「质量代价究竟有多大」尚未被系统回答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9814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34050" y="295275"/>
            <a:ext cx="285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1950" y="112395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1950" y="1419225"/>
            <a:ext cx="114681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前期基础扎实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：后端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35,667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36,973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24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插件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1,940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已开源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可行性风险低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评测引擎与协议已就绪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848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+ 141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测试，立案后可直接进入数据采集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1950" y="26670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61950" y="29622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主观听测（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）团队尚无实施经验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MOS / ABX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的组织、被试管理、评分一致性控制都需方法指导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61950" y="44958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61950" y="47910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先做小规模预实验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跑通流程；请老师把关听测设计与统计；复用已有盲听平台（随机化、不显示条件）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月内即启动招募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；每人实际仅需录约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秒，参与成本低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个月内完成统计方法自学；关键分析由指导老师复核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基本思路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适用范围或推广前景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职业用嗓人群：提供不依赖网络与特定设备的保存路径{&quot;\n&quot;}&#10;        · 对研究方法：补充系统性、控制变量的实验数据{&quot;\n&quot;}&#10;        · 对教学场景：微课配音的本地化、离线化生产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5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5,667 行 · 前端 36,973 行 · 24 插件 · 1,940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943725" y="29527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342900" y="1047750"/>
            <a:ext cx="4419600" cy="4953000"/>
          </a:xfrm>
          <a:custGeom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1257300"/>
            <a:ext cx="3943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619250"/>
            <a:ext cx="3943350" cy="3343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建立一套可复现的测量方法，回答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本地离线、秒级参考音条件下的声音复现质量边界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，并给出面向普通用户的可操作结论。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（要保存声音，最少录多久？）</a:t>
            </a:r>
            <a:r>
              <a:rPr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意义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对职业用嗓人群：提供不依赖网络与特定设备的保存路径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对教学场景：微课配音的本地化、离线化生产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933950" y="1047750"/>
            <a:ext cx="6972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0673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50ms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0673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4295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4295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7917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7917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"/>
          <p:cNvGraphicFramePr/>
          <p:nvPr/>
        </p:nvGraphicFramePr>
        <p:xfrm rot="0" flipH="0" flipV="0">
          <a:off x="4933950" y="2590800"/>
          <a:ext cx="6972300" cy="2095500"/>
        </p:xfrm>
        <a:graphic>
          <a:graphicData uri="http://schemas.openxmlformats.org/drawingml/2006/table">
            <a:tbl>
              <a:tblGrid>
                <a:gridCol w="1799303">
                  <a:extLst>
                    <a:ext uri="{9D8B030D-6E8A-4147-A177-3AD203B41FA5}">
                      <a16:colId val="1"/>
                    </a:ext>
                  </a:extLst>
                </a:gridCol>
                <a:gridCol w="517299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50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35,667 行 · 前端 36,973 行 · 24 插件 · 1,940 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0225" y="295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讲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怎么想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的，不是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怎么做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113538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一句话思路：不发明新模型，而是把已有成熟模型工程化成可控实验平台，用它把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质量边界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这个尚未被系统回答的问题回答掉。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00050" y="2143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已有成熟模型表现已经够好（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秒级参考音即可生成可懂语音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）→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那就不需要自己训模型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00050" y="2809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95350" y="28384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问题于是变成：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「到底给它多少参考音才够？」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←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这才是缺系统答案的地方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00050" y="3476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95350" y="35052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要回答它，必须排除混淆因素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控制变量：同一说话人、同一麦克风、同一房间，只改变参考音时长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00050" y="41433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95350" y="41719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所以要做的是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测量平台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严格协议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，而不是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更大的模型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或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更炫的界面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输出一个诚实的答案：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录多久就够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；并把它固化为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，反哺产品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295275" y="5476875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28625" y="5610225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这个思路的价值在于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：把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能不能用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（可以用数据回答）——后者的结论是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可复现、可验证、可被他人使用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的。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64807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34175" y="295275"/>
            <a:ext cx="219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收益在何处饱和？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314825" y="11430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314825" y="1409700"/>
            <a:ext cx="35623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58175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258175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能否用客观指标做自动门禁？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7650" y="24003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"/>
          <p:cNvGraphicFramePr/>
          <p:nvPr/>
        </p:nvGraphicFramePr>
        <p:xfrm rot="0" flipH="0" flipV="0">
          <a:off x="247650" y="2743200"/>
          <a:ext cx="11696700" cy="2209800"/>
        </p:xfrm>
        <a:graphic>
          <a:graphicData uri="http://schemas.openxmlformats.org/drawingml/2006/table">
            <a:tbl>
              <a:tblGrid>
                <a:gridCol w="2364743">
                  <a:extLst>
                    <a:ext uri="{9D8B030D-6E8A-4147-A177-3AD203B41FA5}">
                      <a16:colId val="1"/>
                    </a:ext>
                  </a:extLst>
                </a:gridCol>
                <a:gridCol w="933195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1" name=""/>
          <p:cNvSpPr/>
          <p:nvPr/>
        </p:nvSpPr>
        <p:spPr>
          <a:xfrm rot="0" flipH="0" flipV="0"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5219700"/>
            <a:ext cx="11430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条件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192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个合成样本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名听测被试。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档位定义是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同一段录音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按顺序截取前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这决定了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必须由同一人在同一条件下一次录制完成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这也是本项目不能使用公开语料替代的原因。实际录制时每人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只需连续朗读约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本项目主要研究对象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配音、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38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24725" y="295275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190500" y="1000125"/>
            <a:ext cx="5848350" cy="4705350"/>
          </a:xfrm>
          <a:custGeom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4290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42900" y="1466850"/>
            <a:ext cx="5543550" cy="4038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本项目主要研究对象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（属辅助沟通范畴，不涉及任何医疗用途声称）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教育教学场景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微课配音、课程音频的本地、离线生产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153150" y="1000125"/>
            <a:ext cx="5848350" cy="3295650"/>
          </a:xfrm>
          <a:custGeom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0555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05550" y="1466850"/>
            <a:ext cx="5543550" cy="2371725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代码已开源并采用插件化架构，第三方可做二次开发或场景适配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离线是刚性需求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师范生嗓音健康建档：学生基数大、需求真实、与专业培养相关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86500" y="44958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86500" y="4743450"/>
            <a:ext cx="5581650" cy="781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不承诺任何医疗效果；系统定位为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声音的保存与辅助沟通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，而非治疗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无障碍方向为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在研模块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，尚未完成产品化验证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285750" y="5848350"/>
            <a:ext cx="116205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结论的通用价值：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本研究产出的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参考音时长—质量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数据与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客观指标能否替代听测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的结论，对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任何使用少样本克隆的下游应用都有参考价值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552825" y="21907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972425" y="2952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"/>
          <p:cNvGraphicFramePr/>
          <p:nvPr/>
        </p:nvGraphicFramePr>
        <p:xfrm rot="0" flipH="0" flipV="0">
          <a:off x="247650" y="1009650"/>
          <a:ext cx="11696700" cy="3143250"/>
        </p:xfrm>
        <a:graphic>
          <a:graphicData uri="http://schemas.openxmlformats.org/drawingml/2006/table">
            <a:tbl>
              <a:tblGrid>
                <a:gridCol w="950102">
                  <a:extLst>
                    <a:ext uri="{9D8B030D-6E8A-4147-A177-3AD203B41FA5}">
                      <a16:colId val="1"/>
                    </a:ext>
                  </a:extLst>
                </a:gridCol>
                <a:gridCol w="1535956">
                  <a:extLst>
                    <a:ext uri="{9D8B030D-6E8A-4147-A177-3AD203B41FA5}">
                      <a16:colId val="2"/>
                    </a:ext>
                  </a:extLst>
                </a:gridCol>
                <a:gridCol w="5420422">
                  <a:extLst>
                    <a:ext uri="{9D8B030D-6E8A-4147-A177-3AD203B41FA5}">
                      <a16:colId val="3"/>
                    </a:ext>
                  </a:extLst>
                </a:gridCol>
                <a:gridCol w="379022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59" name=""/>
          <p:cNvSpPr/>
          <p:nvPr/>
        </p:nvSpPr>
        <p:spPr>
          <a:xfrm rot="0" flipH="0" flipV="0"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295275" y="4286250"/>
            <a:ext cx="5781675" cy="1752600"/>
          </a:xfrm>
          <a:custGeom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47675" y="443865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7675" y="47148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315075" y="4724400"/>
            <a:ext cx="5476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315075" y="5000625"/>
            <a:ext cx="54768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校级合格标准：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软著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调研报告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论文（前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作者）三者任一即可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本项目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具备双保险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——已有可登记系统，且研究问题明确具备撰写条件。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现有结论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、已有成果、预期成果）。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7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02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753 + 289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848 行 + 141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随机化、不显示条件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829050" y="219075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181850" y="295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247650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1219200"/>
            <a:ext cx="2562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35,667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381000" y="1600200"/>
            <a:ext cx="2562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后端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209925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43275" y="1219200"/>
            <a:ext cx="2552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36,973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343275" y="1600200"/>
            <a:ext cx="2552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前端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TS / TSX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162675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296025" y="1219200"/>
            <a:ext cx="2562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1,940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296025" y="1600200"/>
            <a:ext cx="2562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自动化测试用例（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102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文件）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9124950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9258300" y="1219200"/>
            <a:ext cx="2552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A2230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258300" y="1600200"/>
            <a:ext cx="2552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能力插件（含声音保存插件族）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247650" y="20955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与本项目直接相关的既有能力</a:t>
            </a:r>
            <a:endParaRPr/>
          </a:p>
        </p:txBody>
      </p:sp>
      <p:graphicFrame>
        <p:nvGraphicFramePr>
          <p:cNvPr id="91" name=""/>
          <p:cNvGraphicFramePr/>
          <p:nvPr/>
        </p:nvGraphicFramePr>
        <p:xfrm rot="0" flipH="0" flipV="0">
          <a:off x="247650" y="2438400"/>
          <a:ext cx="11696700" cy="2324100"/>
        </p:xfrm>
        <a:graphic>
          <a:graphicData uri="http://schemas.openxmlformats.org/drawingml/2006/table">
            <a:tbl>
              <a:tblGrid>
                <a:gridCol w="2843443">
                  <a:extLst>
                    <a:ext uri="{9D8B030D-6E8A-4147-A177-3AD203B41FA5}">
                      <a16:colId val="1"/>
                    </a:ext>
                  </a:extLst>
                </a:gridCol>
                <a:gridCol w="5863029">
                  <a:extLst>
                    <a:ext uri="{9D8B030D-6E8A-4147-A177-3AD203B41FA5}">
                      <a16:colId val="2"/>
                    </a:ext>
                  </a:extLst>
                </a:gridCol>
                <a:gridCol w="299022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 / 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声音档案存储与门禁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voicepreserve.py + voicepreserve_api.py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753 + 289 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评测引擎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voicebank_eval.py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848 行 + 141 个测试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客观指标计算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盲听平台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随机化、不显示条件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失败判词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质量不达标时给出具体原因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实验协议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《嗓音保存评测协议》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已撰写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2" name=""/>
          <p:cNvSpPr/>
          <p:nvPr/>
        </p:nvSpPr>
        <p:spPr>
          <a:xfrm rot="0" flipH="0" flipV="0">
            <a:off x="295275" y="4895850"/>
            <a:ext cx="11696700" cy="819150"/>
          </a:xfrm>
          <a:prstGeom prst="roundRect">
            <a:avLst>
              <a:gd name="adj" fmla="val 1162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" name=""/>
          <p:cNvSpPr/>
          <p:nvPr/>
        </p:nvSpPr>
        <p:spPr>
          <a:xfrm rot="0" flipH="0" flipV="0">
            <a:off x="295275" y="4895850"/>
            <a:ext cx="11696700" cy="819150"/>
          </a:xfrm>
          <a:custGeom>
            <a:pathLst>
              <a:path w="1228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28625" y="5029200"/>
            <a:ext cx="11382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说明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：以上为本项目的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前期工作积累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，是项目可行性的直接证据，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属于项目的前提条件，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不是本项目的研究产出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工程化配套齐全：完整的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门禁、发布流程、插件化架构，代码已在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GitHub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开源。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6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5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338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886450" y="295275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5275" y="1009650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28625" y="1143000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区分：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「已有成果」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做出来了什么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；「现有结论」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从中学到了什么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。以下每条标注证据强度。</a:t>
            </a:r>
            <a:endParaRPr/>
          </a:p>
        </p:txBody>
      </p:sp>
      <p:graphicFrame>
        <p:nvGraphicFramePr>
          <p:cNvPr id="104" name=""/>
          <p:cNvGraphicFramePr/>
          <p:nvPr/>
        </p:nvGraphicFramePr>
        <p:xfrm rot="0" flipH="0" flipV="0">
          <a:off x="247650" y="1704975"/>
          <a:ext cx="11696700" cy="1905000"/>
        </p:xfrm>
        <a:graphic>
          <a:graphicData uri="http://schemas.openxmlformats.org/drawingml/2006/table">
            <a:tbl>
              <a:tblGrid>
                <a:gridCol w="254633">
                  <a:extLst>
                    <a:ext uri="{9D8B030D-6E8A-4147-A177-3AD203B41FA5}">
                      <a16:colId val="1"/>
                    </a:ext>
                  </a:extLst>
                </a:gridCol>
                <a:gridCol w="5100878">
                  <a:extLst>
                    <a:ext uri="{9D8B030D-6E8A-4147-A177-3AD203B41FA5}">
                      <a16:colId val="2"/>
                    </a:ext>
                  </a:extLst>
                </a:gridCol>
                <a:gridCol w="3594983">
                  <a:extLst>
                    <a:ext uri="{9D8B030D-6E8A-4147-A177-3AD203B41FA5}">
                      <a16:colId val="3"/>
                    </a:ext>
                  </a:extLst>
                </a:gridCol>
                <a:gridCol w="274620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50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 rot="0" flipH="0" flipV="0"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0050" y="3895725"/>
            <a:ext cx="1139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00050" y="4191000"/>
            <a:ext cx="11391900" cy="12192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295275" y="5695950"/>
            <a:ext cx="11696700" cy="542925"/>
          </a:xfrm>
          <a:custGeom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28625" y="5829300"/>
            <a:ext cx="113823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我们主动说明：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现有结论主要来自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工程链路验证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尚未获得任何来自正式实验的质量数据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这既是本项目的立项理由，也是我们对研究边界保持清醒的体现。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6386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91275" y="295275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5438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9100" y="1524000"/>
            <a:ext cx="5438775" cy="3124200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名被试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档参考音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种文本条件的客观评测结果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主观评测结论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（或校级结题研究报告）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210300" y="100965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81750" y="118110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81750" y="152400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评测协议与流水线文档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（可复现）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6210300" y="304800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81750" y="321945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81750" y="356235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知情同意流程与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本地克隆审计日志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（只追加：谁、何时、对谁的档案做了什么）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设计约束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，而不是口号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00050" y="5238750"/>
            <a:ext cx="11391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校级合格标准为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软著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调研报告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论文（前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作者）三者任一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本项目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已有可登记的系统与评测引擎，具备双保险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成果发表时学生为第一作者，并标注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大学生创新创业训练计划资助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项目编号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3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100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162675" y="295275"/>
            <a:ext cx="2009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"/>
          <p:cNvGraphicFramePr/>
          <p:nvPr/>
        </p:nvGraphicFramePr>
        <p:xfrm rot="0" flipH="0" flipV="0">
          <a:off x="247650" y="1009650"/>
          <a:ext cx="11696700" cy="3238500"/>
        </p:xfrm>
        <a:graphic>
          <a:graphicData uri="http://schemas.openxmlformats.org/drawingml/2006/table">
            <a:tbl>
              <a:tblGrid>
                <a:gridCol w="366631">
                  <a:extLst>
                    <a:ext uri="{9D8B030D-6E8A-4147-A177-3AD203B41FA5}">
                      <a16:colId val="1"/>
                    </a:ext>
                  </a:extLst>
                </a:gridCol>
                <a:gridCol w="2120939">
                  <a:extLst>
                    <a:ext uri="{9D8B030D-6E8A-4147-A177-3AD203B41FA5}">
                      <a16:colId val="2"/>
                    </a:ext>
                  </a:extLst>
                </a:gridCol>
                <a:gridCol w="7640109">
                  <a:extLst>
                    <a:ext uri="{9D8B030D-6E8A-4147-A177-3AD203B41FA5}">
                      <a16:colId val="3"/>
                    </a:ext>
                  </a:extLst>
                </a:gridCol>
                <a:gridCol w="156902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137" name=""/>
          <p:cNvSpPr/>
          <p:nvPr/>
        </p:nvSpPr>
        <p:spPr>
          <a:xfrm rot="0" flipH="0" flipV="0"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95275" y="4381500"/>
            <a:ext cx="11696700" cy="981075"/>
          </a:xfrm>
          <a:custGeom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47675" y="4533900"/>
            <a:ext cx="11344275" cy="3143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：本项目以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软件与数据研究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为主，设备投入低；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主要开支为被试劳务、材料与成果发表。具体额度以系统填报时的实际额度为准，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按学校规定如实申报使用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7675" y="4924425"/>
            <a:ext cx="11344275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说明：本项目已具备可用的消费级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无需大额硬件采购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，预算聚焦劳务与发表。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4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9575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238875" y="295275"/>
            <a:ext cx="2124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"/>
          <p:cNvGraphicFramePr/>
          <p:nvPr/>
        </p:nvGraphicFramePr>
        <p:xfrm rot="0" flipH="0" flipV="0">
          <a:off x="247650" y="1009650"/>
          <a:ext cx="11696700" cy="2857500"/>
        </p:xfrm>
        <a:graphic>
          <a:graphicData uri="http://schemas.openxmlformats.org/drawingml/2006/table">
            <a:tbl>
              <a:tblGrid>
                <a:gridCol w="518478">
                  <a:extLst>
                    <a:ext uri="{9D8B030D-6E8A-4147-A177-3AD203B41FA5}">
                      <a16:colId val="1"/>
                    </a:ext>
                  </a:extLst>
                </a:gridCol>
                <a:gridCol w="1350604">
                  <a:extLst>
                    <a:ext uri="{9D8B030D-6E8A-4147-A177-3AD203B41FA5}">
                      <a16:colId val="2"/>
                    </a:ext>
                  </a:extLst>
                </a:gridCol>
                <a:gridCol w="6396699">
                  <a:extLst>
                    <a:ext uri="{9D8B030D-6E8A-4147-A177-3AD203B41FA5}">
                      <a16:colId val="3"/>
                    </a:ext>
                  </a:extLst>
                </a:gridCol>
                <a:gridCol w="34309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总体方案设计；实验平台与评测流水线实现；自动质量门禁；数据统计分析；申报与结题材料统筹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被试招募与沟通；知情同意流程执行；录音 SOP 制定与执行；录音质量筛查；评测语料集整理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听测方案设计；听测平台配置（随机化、盲听）；24 名听测者组织与实施；评分表收集与一致性检验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国内外研究现状调研；与 Apple Personal Voice / 传统声音银行 / 云端克隆的对比分析；参考文献管理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48" name=""/>
          <p:cNvSpPr/>
          <p:nvPr/>
        </p:nvSpPr>
        <p:spPr>
          <a:xfrm rot="0" flipH="0" flipV="0"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295275" y="4000500"/>
            <a:ext cx="5781675" cy="2038350"/>
          </a:xfrm>
          <a:custGeom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47675" y="41529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47675" y="44481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　职称：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315075" y="4600575"/>
            <a:ext cx="5476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15075" y="4867275"/>
            <a:ext cx="54768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研究链条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划分，四人的职责互相衔接且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均有独立产出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每人对应明确可交付物，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不设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协助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类虚职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职业用嗓人群的本地声音保存与少样本复现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62000" y="1571625"/>
            <a:ext cx="10668000" cy="676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52500" y="2962275"/>
            <a:ext cx="10287000" cy="11811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面向职业用嗓人群的本地声音保存与少样本复现质量边界研究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牟旭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10668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所有语音数据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全程在本地处理，不上传任何服务器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本项目为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研究训练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系统集成创新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场景落地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不宣称医疗效果，不使用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首次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领先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唯一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等表述。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2026-10-04T13:06:38Z</dcterms:created>
  <dcterms:modified xsi:type="dcterms:W3CDTF">2026-10-04T13:06:38Z</dcterms:modified>
</cp:coreProperties>
</file>